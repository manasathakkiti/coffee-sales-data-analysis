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60" r:id="rId7"/>
    <p:sldId id="269" r:id="rId8"/>
    <p:sldId id="268" r:id="rId9"/>
    <p:sldId id="270" r:id="rId10"/>
    <p:sldId id="271" r:id="rId11"/>
    <p:sldId id="272" r:id="rId12"/>
    <p:sldId id="273" r:id="rId13"/>
    <p:sldId id="261" r:id="rId14"/>
    <p:sldId id="264" r:id="rId15"/>
    <p:sldId id="262" r:id="rId16"/>
    <p:sldId id="259" r:id="rId17"/>
  </p:sldIdLst>
  <p:sldSz cx="12192000" cy="6858000"/>
  <p:notesSz cx="6858000" cy="9144000"/>
  <p:embeddedFontLst>
    <p:embeddedFont>
      <p:font typeface="Calibri" panose="020F0502020204030204"/>
      <p:regular r:id="rId21"/>
    </p:embeddedFont>
    <p:embeddedFont>
      <p:font typeface="Calibri" panose="020F0502020204030204" pitchFamily="34" charset="0"/>
      <p:regular r:id="rId22"/>
      <p:bold r:id="rId23"/>
      <p:italic r:id="rId24"/>
      <p:boldItalic r:id="rId25"/>
    </p:embeddedFont>
    <p:embeddedFont>
      <p:font typeface="Libre Baskerville" panose="02000000000000000000"/>
      <p:regular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51" userDrawn="1">
          <p15:clr>
            <a:srgbClr val="A4A3A4"/>
          </p15:clr>
        </p15:guide>
        <p15:guide id="2" pos="389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78" d="100"/>
          <a:sy n="78" d="100"/>
        </p:scale>
        <p:origin x="850" y="62"/>
      </p:cViewPr>
      <p:guideLst>
        <p:guide orient="horz" pos="2151"/>
        <p:guide pos="389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font" Target="fonts/font6.fntdata"/><Relationship Id="rId25" Type="http://schemas.openxmlformats.org/officeDocument/2006/relationships/font" Target="fonts/font5.fntdata"/><Relationship Id="rId24" Type="http://schemas.openxmlformats.org/officeDocument/2006/relationships/font" Target="fonts/font4.fntdata"/><Relationship Id="rId23" Type="http://schemas.openxmlformats.org/officeDocument/2006/relationships/font" Target="fonts/font3.fntdata"/><Relationship Id="rId22" Type="http://schemas.openxmlformats.org/officeDocument/2006/relationships/font" Target="fonts/font2.fntdata"/><Relationship Id="rId21" Type="http://schemas.openxmlformats.org/officeDocument/2006/relationships/font" Target="fonts/font1.fntdata"/><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panose="020F0502020204030204"/>
              <a:buNone/>
            </a:pPr>
            <a:endParaRPr dirty="0"/>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panose="020F0502020204030204"/>
                <a:ea typeface="Calibri" panose="020F0502020204030204"/>
                <a:cs typeface="Calibri" panose="020F0502020204030204"/>
                <a:sym typeface="Calibri" panose="020F0502020204030204"/>
              </a:rPr>
            </a:fld>
            <a:endPar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panose="020F0502020204030204"/>
              <a:buNone/>
            </a:p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pic>
        <p:nvPicPr>
          <p:cNvPr id="20" name="Google Shape;20;p7"/>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21"/>
        <p:cNvGrpSpPr/>
        <p:nvPr/>
      </p:nvGrpSpPr>
      <p:grpSpPr>
        <a:xfrm>
          <a:off x="0" y="0"/>
          <a:ext cx="0" cy="0"/>
          <a:chOff x="0" y="0"/>
          <a:chExt cx="0" cy="0"/>
        </a:xfrm>
      </p:grpSpPr>
      <p:sp>
        <p:nvSpPr>
          <p:cNvPr id="22" name="Google Shape;22;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 name="Google Shape;24;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pic>
        <p:nvPicPr>
          <p:cNvPr id="27" name="Google Shape;27;p8"/>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28"/>
        <p:cNvGrpSpPr/>
        <p:nvPr/>
      </p:nvGrpSpPr>
      <p:grpSpPr>
        <a:xfrm>
          <a:off x="0" y="0"/>
          <a:ext cx="0" cy="0"/>
          <a:chOff x="0" y="0"/>
          <a:chExt cx="0" cy="0"/>
        </a:xfrm>
      </p:grpSpPr>
      <p:sp>
        <p:nvSpPr>
          <p:cNvPr id="29" name="Google Shape;2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pic>
        <p:nvPicPr>
          <p:cNvPr id="32" name="Google Shape;32;p9"/>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6" name="Google Shape;36;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pic>
        <p:nvPicPr>
          <p:cNvPr id="39" name="Google Shape;39;p10"/>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pic>
        <p:nvPicPr>
          <p:cNvPr id="46" name="Google Shape;46;p11"/>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pic>
        <p:nvPicPr>
          <p:cNvPr id="54" name="Google Shape;54;p12"/>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pic>
        <p:nvPicPr>
          <p:cNvPr id="64" name="Google Shape;64;p13"/>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pic>
        <p:nvPicPr>
          <p:cNvPr id="72" name="Google Shape;72;p14"/>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pic>
        <p:nvPicPr>
          <p:cNvPr id="80" name="Google Shape;80;p15"/>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pic>
        <p:nvPicPr>
          <p:cNvPr id="87" name="Google Shape;87;p16"/>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4.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1"/>
          <a:srcRect b="58717"/>
          <a:stretch>
            <a:fillRect/>
          </a:stretch>
        </p:blipFill>
        <p:spPr>
          <a:xfrm>
            <a:off x="0" y="-492161"/>
            <a:ext cx="12190815" cy="2763520"/>
          </a:xfrm>
          <a:prstGeom prst="rect">
            <a:avLst/>
          </a:prstGeom>
          <a:noFill/>
          <a:ln>
            <a:noFill/>
          </a:ln>
        </p:spPr>
      </p:pic>
      <p:sp>
        <p:nvSpPr>
          <p:cNvPr id="99" name="Google Shape;99;p1"/>
          <p:cNvSpPr txBox="1"/>
          <p:nvPr/>
        </p:nvSpPr>
        <p:spPr>
          <a:xfrm>
            <a:off x="1887793" y="2659599"/>
            <a:ext cx="8986684" cy="101346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6000" b="1" i="0" u="none" strike="noStrike" cap="none"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Coffee Sales Analysis</a:t>
            </a:r>
            <a:endParaRPr sz="6000" b="1" dirty="0">
              <a:latin typeface="Times New Roman" panose="02020603050405020304" pitchFamily="18" charset="0"/>
              <a:cs typeface="Times New Roman" panose="02020603050405020304" pitchFamily="18" charset="0"/>
            </a:endParaRPr>
          </a:p>
        </p:txBody>
      </p:sp>
      <p:sp>
        <p:nvSpPr>
          <p:cNvPr id="8" name="Title 7"/>
          <p:cNvSpPr>
            <a:spLocks noGrp="1"/>
          </p:cNvSpPr>
          <p:nvPr>
            <p:ph type="title"/>
          </p:nvPr>
        </p:nvSpPr>
        <p:spPr>
          <a:xfrm>
            <a:off x="487045" y="5200650"/>
            <a:ext cx="6258560" cy="1325880"/>
          </a:xfrm>
        </p:spPr>
        <p:txBody>
          <a:bodyPr>
            <a:normAutofit/>
          </a:bodyPr>
          <a:lstStyle/>
          <a:p>
            <a:r>
              <a:rPr lang="en-US" sz="1800" b="1" dirty="0">
                <a:latin typeface="Times New Roman" panose="02020603050405020304" pitchFamily="18" charset="0"/>
                <a:cs typeface="Times New Roman" panose="02020603050405020304" pitchFamily="18" charset="0"/>
              </a:rPr>
              <a:t>Presented </a:t>
            </a:r>
            <a:r>
              <a:rPr lang="en-IN" altLang="en-US" sz="1800" b="1" dirty="0">
                <a:latin typeface="Times New Roman" panose="02020603050405020304" pitchFamily="18" charset="0"/>
                <a:cs typeface="Times New Roman" panose="02020603050405020304" pitchFamily="18" charset="0"/>
              </a:rPr>
              <a:t>by</a:t>
            </a:r>
            <a:br>
              <a:rPr lang="en-IN" altLang="en-US" sz="1800" b="1" dirty="0">
                <a:latin typeface="Times New Roman" panose="02020603050405020304" pitchFamily="18" charset="0"/>
                <a:cs typeface="Times New Roman" panose="02020603050405020304" pitchFamily="18" charset="0"/>
              </a:rPr>
            </a:br>
            <a:r>
              <a:rPr lang="en-IN" altLang="en-US" sz="1800" b="1" dirty="0">
                <a:latin typeface="Times New Roman" panose="02020603050405020304" pitchFamily="18" charset="0"/>
                <a:cs typeface="Times New Roman" panose="02020603050405020304" pitchFamily="18" charset="0"/>
              </a:rPr>
              <a:t>M</a:t>
            </a:r>
            <a:r>
              <a:rPr lang="en-US" sz="1800" b="1" dirty="0">
                <a:latin typeface="Times New Roman" panose="02020603050405020304" pitchFamily="18" charset="0"/>
                <a:cs typeface="Times New Roman" panose="02020603050405020304" pitchFamily="18" charset="0"/>
              </a:rPr>
              <a:t>a</a:t>
            </a:r>
            <a:r>
              <a:rPr lang="en-IN" altLang="en-US" sz="1800" b="1" dirty="0">
                <a:latin typeface="Times New Roman" panose="02020603050405020304" pitchFamily="18" charset="0"/>
                <a:cs typeface="Times New Roman" panose="02020603050405020304" pitchFamily="18" charset="0"/>
              </a:rPr>
              <a:t>nasa Thakkiti</a:t>
            </a:r>
            <a:endParaRPr lang="en-IN" altLang="en-US" sz="1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5" name="TextBox 4"/>
          <p:cNvSpPr txBox="1"/>
          <p:nvPr/>
        </p:nvSpPr>
        <p:spPr>
          <a:xfrm>
            <a:off x="335280" y="288290"/>
            <a:ext cx="5233670" cy="656590"/>
          </a:xfrm>
          <a:prstGeom prst="rect">
            <a:avLst/>
          </a:prstGeom>
          <a:noFill/>
        </p:spPr>
        <p:txBody>
          <a:bodyPr wrap="square">
            <a:noAutofit/>
          </a:bodyPr>
          <a:lstStyle/>
          <a:p>
            <a:r>
              <a:rPr lang="en-US" sz="3600" b="1" dirty="0">
                <a:latin typeface="Times New Roman" panose="02020603050405020304" pitchFamily="18" charset="0"/>
                <a:ea typeface="Calibri" panose="020F0502020204030204" pitchFamily="34" charset="0"/>
                <a:cs typeface="Times New Roman" panose="02020603050405020304" pitchFamily="18" charset="0"/>
              </a:rPr>
              <a:t>Why Data </a:t>
            </a:r>
            <a:r>
              <a:rPr lang="en-IN" altLang="en-US" sz="3600" b="1" dirty="0">
                <a:latin typeface="Times New Roman" panose="02020603050405020304" pitchFamily="18" charset="0"/>
                <a:ea typeface="Calibri" panose="020F0502020204030204" pitchFamily="34" charset="0"/>
                <a:cs typeface="Times New Roman" panose="02020603050405020304" pitchFamily="18" charset="0"/>
              </a:rPr>
              <a:t>Analysis</a:t>
            </a:r>
            <a:r>
              <a:rPr lang="en-US" sz="3600" b="1" dirty="0">
                <a:latin typeface="Times New Roman" panose="02020603050405020304" pitchFamily="18" charset="0"/>
                <a:ea typeface="Calibri" panose="020F0502020204030204" pitchFamily="34" charset="0"/>
                <a:cs typeface="Times New Roman" panose="02020603050405020304" pitchFamily="18" charset="0"/>
              </a:rPr>
              <a:t>?</a:t>
            </a:r>
            <a:endParaRPr lang="en-US" sz="3600" b="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Text Box 1"/>
          <p:cNvSpPr txBox="1"/>
          <p:nvPr/>
        </p:nvSpPr>
        <p:spPr>
          <a:xfrm>
            <a:off x="253365" y="1134745"/>
            <a:ext cx="8697595" cy="5473700"/>
          </a:xfrm>
          <a:prstGeom prst="rect">
            <a:avLst/>
          </a:prstGeom>
        </p:spPr>
        <p:txBody>
          <a:bodyPr wrap="square">
            <a:noAutofit/>
          </a:bodyPr>
          <a:p>
            <a:pPr marL="285750" indent="-285750" algn="just">
              <a:buFont typeface="Arial" panose="020B0604020202020204" pitchFamily="34" charset="0"/>
              <a:buChar char="•"/>
            </a:pPr>
            <a:r>
              <a:rPr lang="en-US" altLang="zh-CN" sz="1800"/>
              <a:t>Data analysis is the process of examining, cleaning, and interpreting data to discover useful insights. It helps convert raw information into meaningful knowledge that supports better decisions and understanding.</a:t>
            </a:r>
            <a:endParaRPr lang="en-US" altLang="zh-CN" sz="1800"/>
          </a:p>
          <a:p>
            <a:pPr marL="285750" indent="-285750" algn="just">
              <a:buFont typeface="Arial" panose="020B0604020202020204" pitchFamily="34" charset="0"/>
              <a:buChar char="•"/>
            </a:pPr>
            <a:endParaRPr lang="en-US" altLang="zh-CN" sz="1800"/>
          </a:p>
          <a:p>
            <a:pPr marL="285750" indent="-285750" algn="just">
              <a:buFont typeface="Arial" panose="020B0604020202020204" pitchFamily="34" charset="0"/>
              <a:buChar char="•"/>
            </a:pPr>
            <a:r>
              <a:rPr lang="en-US" altLang="en-US" sz="1800"/>
              <a:t>Data analysis is important because it helps identify patterns, trends, and problems that may not be visible otherwise. Businesses use data analysis to improve performance, understand customers, reduce costs, and make smarter decisions.</a:t>
            </a:r>
            <a:endParaRPr lang="en-US" altLang="en-US" sz="1800"/>
          </a:p>
          <a:p>
            <a:pPr marL="285750" indent="-285750" algn="just">
              <a:buFont typeface="Arial" panose="020B0604020202020204" pitchFamily="34" charset="0"/>
              <a:buChar char="•"/>
            </a:pPr>
            <a:endParaRPr lang="en-US" altLang="en-US" sz="1800"/>
          </a:p>
          <a:p>
            <a:pPr marL="285750" indent="-285750" algn="just">
              <a:buFont typeface="Arial" panose="020B0604020202020204" pitchFamily="34" charset="0"/>
              <a:buChar char="•"/>
            </a:pPr>
            <a:r>
              <a:rPr lang="en-US" altLang="en-US" sz="1800"/>
              <a:t>The process involves collecting data, cleaning errors or missing values, exploring the data using charts and statistics, and then interpreting the findings. This helps in understanding what the data is saying and what actions should be taken.</a:t>
            </a:r>
            <a:endParaRPr lang="en-US" altLang="en-US" sz="1800"/>
          </a:p>
          <a:p>
            <a:pPr marL="285750" indent="-285750" algn="just">
              <a:buFont typeface="Arial" panose="020B0604020202020204" pitchFamily="34" charset="0"/>
              <a:buChar char="•"/>
            </a:pPr>
            <a:endParaRPr lang="en-US" altLang="en-US" sz="1800"/>
          </a:p>
          <a:p>
            <a:pPr marL="285750" indent="-285750" algn="just">
              <a:buFont typeface="Arial" panose="020B0604020202020204" pitchFamily="34" charset="0"/>
              <a:buChar char="•"/>
            </a:pPr>
            <a:r>
              <a:rPr lang="en-US" altLang="en-US" sz="1800"/>
              <a:t>Tools like Python, SQL, Excel, Power BI, and Tableau make it easier to clean, analyze, and visualize data. They help analysts turn raw data into clear reports and visual insights</a:t>
            </a:r>
            <a:endParaRPr lang="en-US" altLang="en-US" sz="180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346124" y="271508"/>
            <a:ext cx="10515600" cy="831168"/>
          </a:xfrm>
          <a:prstGeom prst="rect">
            <a:avLst/>
          </a:prstGeom>
          <a:noFill/>
          <a:ln>
            <a:noFill/>
          </a:ln>
        </p:spPr>
        <p:txBody>
          <a:bodyPr spcFirstLastPara="1" wrap="square" lIns="91425" tIns="45700" rIns="91425" bIns="45700" anchor="ctr" anchorCtr="0">
            <a:normAutofit/>
          </a:bodyPr>
          <a:lstStyle/>
          <a:p>
            <a:pPr lvl="0">
              <a:buClr>
                <a:srgbClr val="FF0000"/>
              </a:buClr>
              <a:buSzPts val="4400"/>
            </a:pPr>
            <a:r>
              <a:rPr lang="en-IN" altLang="da-DK" sz="4000" b="1" dirty="0">
                <a:latin typeface="Times New Roman" panose="02020603050405020304" pitchFamily="18" charset="0"/>
                <a:cs typeface="Times New Roman" panose="02020603050405020304" pitchFamily="18" charset="0"/>
              </a:rPr>
              <a:t>Coffee sales </a:t>
            </a:r>
            <a:r>
              <a:rPr lang="da-DK" sz="4000" b="1" dirty="0">
                <a:latin typeface="Times New Roman" panose="02020603050405020304" pitchFamily="18" charset="0"/>
                <a:cs typeface="Times New Roman" panose="02020603050405020304" pitchFamily="18" charset="0"/>
              </a:rPr>
              <a:t>Dataset Analysis</a:t>
            </a:r>
            <a:endParaRPr sz="4000" b="1"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438912" y="1486013"/>
            <a:ext cx="11100816" cy="4082683"/>
          </a:xfrm>
        </p:spPr>
        <p:txBody>
          <a:bodyPr>
            <a:normAutofit/>
          </a:bodyPr>
          <a:lstStyle/>
          <a:p>
            <a:pPr algn="just"/>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marL="114300" indent="0" algn="just">
              <a:buNone/>
            </a:pPr>
            <a:endParaRPr lang="en-US" sz="2000" dirty="0">
              <a:latin typeface="Times New Roman" panose="02020603050405020304" pitchFamily="18" charset="0"/>
              <a:cs typeface="Times New Roman" panose="02020603050405020304" pitchFamily="18" charset="0"/>
            </a:endParaRPr>
          </a:p>
          <a:p>
            <a:pPr marL="114300" indent="0" algn="just">
              <a:buNone/>
            </a:pPr>
            <a:endParaRPr lang="en-US" sz="2000" dirty="0"/>
          </a:p>
        </p:txBody>
      </p:sp>
      <p:sp>
        <p:nvSpPr>
          <p:cNvPr id="4" name="Rectangle 2"/>
          <p:cNvSpPr>
            <a:spLocks noChangeArrowheads="1"/>
          </p:cNvSpPr>
          <p:nvPr/>
        </p:nvSpPr>
        <p:spPr bwMode="auto">
          <a:xfrm>
            <a:off x="652145" y="1102360"/>
            <a:ext cx="10085070" cy="4849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q"/>
            </a:pPr>
            <a:r>
              <a:rPr kumimoji="0" lang="en-US" altLang="en-US" sz="1800" b="0" i="0" u="none" strike="noStrike" cap="none" normalizeH="0" baseline="0" dirty="0">
                <a:ln>
                  <a:noFill/>
                </a:ln>
                <a:solidFill>
                  <a:schemeClr val="tx1"/>
                </a:solidFill>
                <a:effectLst/>
                <a:latin typeface="Arial" panose="020B0604020202020204" pitchFamily="34" charset="0"/>
              </a:rPr>
              <a:t>The goal of this analysis is to study coffee sales performance based on </a:t>
            </a:r>
            <a:r>
              <a:rPr kumimoji="0" lang="en-IN" altLang="en-US" sz="1800" b="0" i="0" u="none" strike="noStrike" cap="none" normalizeH="0" baseline="0" dirty="0">
                <a:ln>
                  <a:noFill/>
                </a:ln>
                <a:solidFill>
                  <a:schemeClr val="tx1"/>
                </a:solidFill>
                <a:effectLst/>
                <a:latin typeface="Arial" panose="020B0604020202020204" pitchFamily="34" charset="0"/>
              </a:rPr>
              <a:t>coffe</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IN" altLang="en-US" sz="1800" b="0" i="0" u="none" strike="noStrike" cap="none" normalizeH="0" baseline="0" dirty="0">
                <a:ln>
                  <a:noFill/>
                </a:ln>
                <a:solidFill>
                  <a:schemeClr val="tx1"/>
                </a:solidFill>
                <a:effectLst/>
                <a:latin typeface="Arial" panose="020B0604020202020204" pitchFamily="34" charset="0"/>
              </a:rPr>
              <a:t>name</a:t>
            </a:r>
            <a:r>
              <a:rPr kumimoji="0" lang="en-US" altLang="en-US" sz="1800" b="0" i="0" u="none" strike="noStrike" cap="none" normalizeH="0" baseline="0" dirty="0">
                <a:ln>
                  <a:noFill/>
                </a:ln>
                <a:solidFill>
                  <a:schemeClr val="tx1"/>
                </a:solidFill>
                <a:effectLst/>
                <a:latin typeface="Arial" panose="020B0604020202020204" pitchFamily="34" charset="0"/>
              </a:rPr>
              <a:t>, date, </a:t>
            </a:r>
            <a:r>
              <a:rPr kumimoji="0" lang="en-IN" altLang="en-US" sz="1800" b="0" i="0" u="none" strike="noStrike" cap="none" normalizeH="0" baseline="0" dirty="0">
                <a:ln>
                  <a:noFill/>
                </a:ln>
                <a:solidFill>
                  <a:schemeClr val="tx1"/>
                </a:solidFill>
                <a:effectLst/>
                <a:latin typeface="Arial" panose="020B0604020202020204" pitchFamily="34" charset="0"/>
              </a:rPr>
              <a:t>Time</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IN" altLang="en-US" sz="1800" b="0" i="0" u="none" strike="noStrike" cap="none" normalizeH="0" baseline="0" dirty="0">
                <a:ln>
                  <a:noFill/>
                </a:ln>
                <a:solidFill>
                  <a:schemeClr val="tx1"/>
                </a:solidFill>
                <a:effectLst/>
                <a:latin typeface="Arial" panose="020B0604020202020204" pitchFamily="34" charset="0"/>
              </a:rPr>
              <a:t>Weekday </a:t>
            </a:r>
            <a:r>
              <a:rPr kumimoji="0" lang="en-US" altLang="en-US" sz="1800" b="0" i="0" u="none" strike="noStrike" cap="none" normalizeH="0" baseline="0" dirty="0">
                <a:ln>
                  <a:noFill/>
                </a:ln>
                <a:solidFill>
                  <a:schemeClr val="tx1"/>
                </a:solidFill>
                <a:effectLst/>
                <a:latin typeface="Arial" panose="020B0604020202020204" pitchFamily="34" charset="0"/>
              </a:rPr>
              <a:t>and customer segment to identify sales trends and insights..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q"/>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q"/>
            </a:pPr>
            <a:r>
              <a:rPr kumimoji="0" lang="en-US" altLang="en-US" sz="1800" b="0" i="0" u="none" strike="noStrike" cap="none" normalizeH="0" baseline="0" dirty="0">
                <a:ln>
                  <a:noFill/>
                </a:ln>
                <a:solidFill>
                  <a:schemeClr val="tx1"/>
                </a:solidFill>
                <a:effectLst/>
                <a:latin typeface="Arial" panose="020B0604020202020204" pitchFamily="34" charset="0"/>
              </a:rPr>
              <a:t>The dataset contains </a:t>
            </a:r>
            <a:r>
              <a:rPr kumimoji="0" lang="en-IN" altLang="en-US" sz="1800" b="1" i="0" u="none" strike="noStrike" cap="none" normalizeH="0" baseline="0" dirty="0">
                <a:ln>
                  <a:noFill/>
                </a:ln>
                <a:solidFill>
                  <a:schemeClr val="tx1"/>
                </a:solidFill>
                <a:effectLst/>
                <a:latin typeface="Arial" panose="020B0604020202020204" pitchFamily="34" charset="0"/>
              </a:rPr>
              <a:t>3547</a:t>
            </a:r>
            <a:r>
              <a:rPr kumimoji="0" lang="en-US" altLang="en-US" sz="1800" b="1" i="0" u="none" strike="noStrike" cap="none" normalizeH="0" baseline="0" dirty="0">
                <a:ln>
                  <a:noFill/>
                </a:ln>
                <a:solidFill>
                  <a:schemeClr val="tx1"/>
                </a:solidFill>
                <a:effectLst/>
                <a:latin typeface="Arial" panose="020B0604020202020204" pitchFamily="34" charset="0"/>
              </a:rPr>
              <a:t> rows and 1</a:t>
            </a:r>
            <a:r>
              <a:rPr kumimoji="0" lang="en-IN" altLang="en-US" sz="1800" b="1" i="0" u="none" strike="noStrike" cap="none" normalizeH="0" baseline="0" dirty="0">
                <a:ln>
                  <a:noFill/>
                </a:ln>
                <a:solidFill>
                  <a:schemeClr val="tx1"/>
                </a:solidFill>
                <a:effectLst/>
                <a:latin typeface="Arial" panose="020B0604020202020204" pitchFamily="34" charset="0"/>
              </a:rPr>
              <a:t>1</a:t>
            </a:r>
            <a:r>
              <a:rPr kumimoji="0" lang="en-US" altLang="en-US" sz="1800" b="1" i="0" u="none" strike="noStrike" cap="none" normalizeH="0" baseline="0" dirty="0">
                <a:ln>
                  <a:noFill/>
                </a:ln>
                <a:solidFill>
                  <a:schemeClr val="tx1"/>
                </a:solidFill>
                <a:effectLst/>
                <a:latin typeface="Arial" panose="020B0604020202020204" pitchFamily="34" charset="0"/>
              </a:rPr>
              <a:t> columns</a:t>
            </a:r>
            <a:r>
              <a:rPr kumimoji="0" lang="en-US" altLang="en-US" sz="1800" b="0"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q"/>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q"/>
            </a:pPr>
            <a:r>
              <a:rPr kumimoji="0" lang="en-US" altLang="en-US" sz="1800" b="0" i="0" u="none" strike="noStrike" cap="none" normalizeH="0" baseline="0" dirty="0">
                <a:ln>
                  <a:noFill/>
                </a:ln>
                <a:solidFill>
                  <a:schemeClr val="tx1"/>
                </a:solidFill>
                <a:effectLst/>
                <a:latin typeface="Arial" panose="020B0604020202020204" pitchFamily="34" charset="0"/>
              </a:rPr>
              <a:t>It includes </a:t>
            </a:r>
            <a:r>
              <a:rPr kumimoji="0" lang="en-IN" altLang="en-US" sz="1800" b="1" i="0" u="none" strike="noStrike" cap="none" normalizeH="0" baseline="0" dirty="0">
                <a:ln>
                  <a:noFill/>
                </a:ln>
                <a:solidFill>
                  <a:schemeClr val="tx1"/>
                </a:solidFill>
                <a:effectLst/>
                <a:latin typeface="Arial" panose="020B0604020202020204" pitchFamily="34" charset="0"/>
              </a:rPr>
              <a:t>4</a:t>
            </a:r>
            <a:r>
              <a:rPr kumimoji="0" lang="en-US" altLang="en-US" sz="1800" b="1" i="0" u="none" strike="noStrike" cap="none" normalizeH="0" baseline="0" dirty="0">
                <a:ln>
                  <a:noFill/>
                </a:ln>
                <a:solidFill>
                  <a:schemeClr val="tx1"/>
                </a:solidFill>
                <a:effectLst/>
                <a:latin typeface="Arial" panose="020B0604020202020204" pitchFamily="34" charset="0"/>
              </a:rPr>
              <a:t> numerical columns</a:t>
            </a:r>
            <a:r>
              <a:rPr kumimoji="0" lang="en-IN" altLang="en-US" sz="1800" b="1" i="0" u="none" strike="noStrike" cap="none" normalizeH="0" baseline="0" dirty="0">
                <a:ln>
                  <a:noFill/>
                </a:ln>
                <a:solidFill>
                  <a:schemeClr val="tx1"/>
                </a:solidFill>
                <a:effectLst/>
                <a:latin typeface="Arial" panose="020B0604020202020204" pitchFamily="34" charset="0"/>
              </a:rPr>
              <a:t> such as </a:t>
            </a:r>
            <a:r>
              <a:rPr kumimoji="0" lang="en-US" altLang="en-US" sz="1800" b="0" i="0" u="none" strike="noStrike" cap="none" normalizeH="0" baseline="0" dirty="0">
                <a:ln>
                  <a:noFill/>
                </a:ln>
                <a:solidFill>
                  <a:schemeClr val="tx1"/>
                </a:solidFill>
                <a:effectLst/>
                <a:latin typeface="Arial" panose="020B0604020202020204" pitchFamily="34" charset="0"/>
              </a:rPr>
              <a:t>hour_of_day</a:t>
            </a:r>
            <a:r>
              <a:rPr kumimoji="0" lang="en-IN" altLang="en-US" sz="1800" b="0"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money</a:t>
            </a:r>
            <a:r>
              <a:rPr kumimoji="0" lang="en-IN" altLang="en-US" sz="1800" b="0" i="0" u="none" strike="noStrike" cap="none" normalizeH="0" baseline="0" dirty="0">
                <a:ln>
                  <a:noFill/>
                </a:ln>
                <a:solidFill>
                  <a:schemeClr val="tx1"/>
                </a:solidFill>
                <a:effectLst/>
                <a:latin typeface="Arial" panose="020B0604020202020204" pitchFamily="34" charset="0"/>
              </a:rPr>
              <a:t>,workdaysort,monthsort</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IN" altLang="en-US" sz="1800" b="1" i="0" u="none" strike="noStrike" cap="none" normalizeH="0" baseline="0" dirty="0">
                <a:ln>
                  <a:noFill/>
                </a:ln>
                <a:solidFill>
                  <a:schemeClr val="tx1"/>
                </a:solidFill>
                <a:effectLst/>
                <a:latin typeface="Arial" panose="020B0604020202020204" pitchFamily="34" charset="0"/>
              </a:rPr>
              <a:t>5</a:t>
            </a:r>
            <a:r>
              <a:rPr kumimoji="0" lang="en-US" altLang="en-US" sz="1800" b="1" i="0" u="none" strike="noStrike" cap="none" normalizeH="0" baseline="0" dirty="0">
                <a:ln>
                  <a:noFill/>
                </a:ln>
                <a:solidFill>
                  <a:schemeClr val="tx1"/>
                </a:solidFill>
                <a:effectLst/>
                <a:latin typeface="Arial" panose="020B0604020202020204" pitchFamily="34" charset="0"/>
              </a:rPr>
              <a:t> categorical columns</a:t>
            </a:r>
            <a:r>
              <a:rPr kumimoji="0" lang="en-IN" altLang="en-US" sz="1800" b="1" i="0" u="none" strike="noStrike" cap="none" normalizeH="0" baseline="0" dirty="0">
                <a:ln>
                  <a:noFill/>
                </a:ln>
                <a:solidFill>
                  <a:schemeClr val="tx1"/>
                </a:solidFill>
                <a:effectLst/>
                <a:latin typeface="Arial" panose="020B0604020202020204" pitchFamily="34" charset="0"/>
              </a:rPr>
              <a:t> such as </a:t>
            </a:r>
            <a:r>
              <a:rPr kumimoji="0" lang="en-IN" altLang="en-US" sz="1800" i="0" u="none" strike="noStrike" cap="none" normalizeH="0" baseline="0" dirty="0">
                <a:ln>
                  <a:noFill/>
                </a:ln>
                <a:solidFill>
                  <a:schemeClr val="tx1"/>
                </a:solidFill>
                <a:effectLst/>
                <a:latin typeface="Arial" panose="020B0604020202020204" pitchFamily="34" charset="0"/>
              </a:rPr>
              <a:t>coffe name,</a:t>
            </a:r>
            <a:r>
              <a:rPr kumimoji="0" lang="en-US" altLang="en-US" sz="1800" i="0" u="none" strike="noStrike" cap="none" normalizeH="0" baseline="0" dirty="0">
                <a:ln>
                  <a:noFill/>
                </a:ln>
                <a:solidFill>
                  <a:schemeClr val="tx1"/>
                </a:solidFill>
                <a:effectLst/>
                <a:latin typeface="Arial" panose="020B0604020202020204" pitchFamily="34" charset="0"/>
              </a:rPr>
              <a:t>Time_of_Day</a:t>
            </a:r>
            <a:r>
              <a:rPr kumimoji="0" lang="en-IN" altLang="en-US" sz="1800" i="0" u="none" strike="noStrike" cap="none" normalizeH="0" baseline="0" dirty="0">
                <a:ln>
                  <a:noFill/>
                </a:ln>
                <a:solidFill>
                  <a:schemeClr val="tx1"/>
                </a:solidFill>
                <a:effectLst/>
                <a:latin typeface="Arial" panose="020B0604020202020204" pitchFamily="34" charset="0"/>
              </a:rPr>
              <a:t>,</a:t>
            </a:r>
            <a:r>
              <a:rPr lang="en-US" altLang="en-US" sz="1800" dirty="0">
                <a:ln>
                  <a:noFill/>
                </a:ln>
                <a:solidFill>
                  <a:schemeClr val="tx1"/>
                </a:solidFill>
                <a:effectLst/>
                <a:latin typeface="Arial" panose="020B0604020202020204" pitchFamily="34" charset="0"/>
                <a:sym typeface="+mn-ea"/>
              </a:rPr>
              <a:t>Cash_type</a:t>
            </a:r>
            <a:r>
              <a:rPr lang="en-IN" altLang="en-US" sz="1800" dirty="0">
                <a:ln>
                  <a:noFill/>
                </a:ln>
                <a:solidFill>
                  <a:schemeClr val="tx1"/>
                </a:solidFill>
                <a:effectLst/>
                <a:latin typeface="Arial" panose="020B0604020202020204" pitchFamily="34" charset="0"/>
                <a:sym typeface="+mn-ea"/>
              </a:rPr>
              <a:t>,W</a:t>
            </a:r>
            <a:r>
              <a:rPr kumimoji="0" lang="en-IN" altLang="en-US" sz="1800" i="0" u="none" strike="noStrike" cap="none" normalizeH="0" baseline="0" dirty="0">
                <a:ln>
                  <a:noFill/>
                </a:ln>
                <a:solidFill>
                  <a:schemeClr val="tx1"/>
                </a:solidFill>
                <a:effectLst/>
                <a:latin typeface="Arial" panose="020B0604020202020204" pitchFamily="34" charset="0"/>
              </a:rPr>
              <a:t>eekday,Month name</a:t>
            </a:r>
            <a:r>
              <a:rPr kumimoji="0" lang="en-IN" altLang="en-US" sz="1800" b="1" i="0" u="none" strike="noStrike" cap="none" normalizeH="0" baseline="0" dirty="0">
                <a:ln>
                  <a:noFill/>
                </a:ln>
                <a:solidFill>
                  <a:schemeClr val="tx1"/>
                </a:solidFill>
                <a:effectLst/>
                <a:latin typeface="Arial" panose="020B0604020202020204" pitchFamily="34" charset="0"/>
              </a:rPr>
              <a:t> </a:t>
            </a:r>
            <a:r>
              <a:rPr kumimoji="0" lang="en-IN" altLang="en-US" sz="1800" i="0" u="none" strike="noStrike" cap="none" normalizeH="0" baseline="0" dirty="0">
                <a:ln>
                  <a:noFill/>
                </a:ln>
                <a:solidFill>
                  <a:schemeClr val="tx1"/>
                </a:solidFill>
                <a:effectLst/>
                <a:latin typeface="Arial" panose="020B0604020202020204" pitchFamily="34" charset="0"/>
              </a:rPr>
              <a:t>and </a:t>
            </a:r>
            <a:r>
              <a:rPr kumimoji="0" lang="en-IN" altLang="en-US" sz="1800" b="1" i="0" u="none" strike="noStrike" cap="none" normalizeH="0" baseline="0" dirty="0">
                <a:ln>
                  <a:noFill/>
                </a:ln>
                <a:solidFill>
                  <a:schemeClr val="tx1"/>
                </a:solidFill>
                <a:effectLst/>
                <a:latin typeface="Arial" panose="020B0604020202020204" pitchFamily="34" charset="0"/>
              </a:rPr>
              <a:t>1 date column </a:t>
            </a:r>
            <a:r>
              <a:rPr kumimoji="0" lang="en-IN" altLang="en-US" sz="1800" i="0" u="none" strike="noStrike" cap="none" normalizeH="0" baseline="0" dirty="0">
                <a:ln>
                  <a:noFill/>
                </a:ln>
                <a:solidFill>
                  <a:schemeClr val="tx1"/>
                </a:solidFill>
                <a:effectLst/>
                <a:latin typeface="Arial" panose="020B0604020202020204" pitchFamily="34" charset="0"/>
              </a:rPr>
              <a:t>and</a:t>
            </a:r>
            <a:r>
              <a:rPr kumimoji="0" lang="en-IN" altLang="en-US" sz="1800" b="1" i="0" u="none" strike="noStrike" cap="none" normalizeH="0" baseline="0" dirty="0">
                <a:ln>
                  <a:noFill/>
                </a:ln>
                <a:solidFill>
                  <a:schemeClr val="tx1"/>
                </a:solidFill>
                <a:effectLst/>
                <a:latin typeface="Arial" panose="020B0604020202020204" pitchFamily="34" charset="0"/>
              </a:rPr>
              <a:t> 1 Time column.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q"/>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q"/>
            </a:pPr>
            <a:r>
              <a:rPr kumimoji="0" lang="en-US" altLang="en-US" sz="1800" b="1" i="0" u="none" strike="noStrike" cap="none" normalizeH="0" baseline="0" dirty="0">
                <a:ln>
                  <a:noFill/>
                </a:ln>
                <a:solidFill>
                  <a:schemeClr val="tx1"/>
                </a:solidFill>
                <a:effectLst/>
                <a:latin typeface="Arial" panose="020B0604020202020204" pitchFamily="34" charset="0"/>
              </a:rPr>
              <a:t>Key Features Include</a:t>
            </a:r>
            <a:r>
              <a:rPr kumimoji="0" lang="en-US" altLang="en-US" sz="1800" b="0" i="0" u="none" strike="noStrike" cap="none" normalizeH="0" baseline="0" dirty="0">
                <a:ln>
                  <a:noFill/>
                </a:ln>
                <a:solidFill>
                  <a:schemeClr val="tx1"/>
                </a:solidFill>
                <a:effectLst/>
                <a:latin typeface="Arial" panose="020B0604020202020204" pitchFamily="34" charset="0"/>
              </a:rPr>
              <a:t>:Date, Time_of_Day, Weekday, Coffee_name, Money, and Cash_type, as they help find sales trends, popular products, and customer preferences.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 typeface="Wingdings" panose="05000000000000000000" pitchFamily="2" charset="2"/>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432914" y="187882"/>
            <a:ext cx="6739128" cy="646331"/>
          </a:xfrm>
          <a:prstGeom prst="rect">
            <a:avLst/>
          </a:prstGeom>
          <a:noFill/>
        </p:spPr>
        <p:txBody>
          <a:bodyPr wrap="square" rtlCol="0">
            <a:spAutoFit/>
          </a:bodyPr>
          <a:lstStyle/>
          <a:p>
            <a:r>
              <a:rPr lang="en-IN" sz="3600" b="1" dirty="0">
                <a:latin typeface="Times New Roman" panose="02020603050405020304" pitchFamily="18" charset="0"/>
                <a:cs typeface="Times New Roman" panose="02020603050405020304" pitchFamily="18" charset="0"/>
              </a:rPr>
              <a:t>Understanding the Columns</a:t>
            </a:r>
            <a:endParaRPr lang="en-IN" sz="3600" b="1" dirty="0">
              <a:latin typeface="Times New Roman" panose="02020603050405020304" pitchFamily="18" charset="0"/>
              <a:cs typeface="Times New Roman" panose="02020603050405020304" pitchFamily="18" charset="0"/>
            </a:endParaRPr>
          </a:p>
        </p:txBody>
      </p:sp>
      <p:graphicFrame>
        <p:nvGraphicFramePr>
          <p:cNvPr id="23" name="Table 22"/>
          <p:cNvGraphicFramePr>
            <a:graphicFrameLocks noGrp="1"/>
          </p:cNvGraphicFramePr>
          <p:nvPr/>
        </p:nvGraphicFramePr>
        <p:xfrm>
          <a:off x="663419" y="919456"/>
          <a:ext cx="11385550" cy="5247807"/>
        </p:xfrm>
        <a:graphic>
          <a:graphicData uri="http://schemas.openxmlformats.org/drawingml/2006/table">
            <a:tbl>
              <a:tblPr>
                <a:tableStyleId>{5940675A-B579-460E-94D1-54222C63F5DA}</a:tableStyleId>
              </a:tblPr>
              <a:tblGrid>
                <a:gridCol w="526480"/>
                <a:gridCol w="1405255"/>
                <a:gridCol w="3712210"/>
                <a:gridCol w="1508125"/>
              </a:tblGrid>
              <a:tr h="348319">
                <a:tc>
                  <a:txBody>
                    <a:bodyPr/>
                    <a:lstStyle/>
                    <a:p>
                      <a:pPr algn="ctr">
                        <a:buNone/>
                      </a:pPr>
                      <a:r>
                        <a:rPr lang="en-IN" sz="1400" b="0" cap="none" spc="0" dirty="0">
                          <a:ln>
                            <a:noFill/>
                          </a:ln>
                          <a:solidFill>
                            <a:schemeClr val="tx1"/>
                          </a:solidFill>
                          <a:effectLst/>
                        </a:rPr>
                        <a:t>SNO.</a:t>
                      </a:r>
                      <a:endParaRPr lang="en-IN" sz="1400" b="0" cap="none" spc="0" dirty="0">
                        <a:ln>
                          <a:noFill/>
                        </a:ln>
                        <a:solidFill>
                          <a:schemeClr val="tx1"/>
                        </a:solidFill>
                        <a:effectLst/>
                      </a:endParaRPr>
                    </a:p>
                  </a:txBody>
                  <a:tcPr marL="38736" marR="38736" marT="19368" marB="19368" anchor="ctr"/>
                </a:tc>
                <a:tc>
                  <a:txBody>
                    <a:bodyPr/>
                    <a:lstStyle/>
                    <a:p>
                      <a:r>
                        <a:rPr lang="en-US" altLang="zh-CN" sz="1400"/>
                        <a:t>Column Name</a:t>
                      </a:r>
                      <a:endParaRPr lang="en-US" altLang="zh-CN" sz="1400"/>
                    </a:p>
                  </a:txBody>
                  <a:tcPr marL="0" marR="0" marT="0" marB="0" anchor="ctr" anchorCtr="0"/>
                </a:tc>
                <a:tc>
                  <a:txBody>
                    <a:bodyPr/>
                    <a:lstStyle/>
                    <a:p>
                      <a:pPr algn="ctr">
                        <a:buNone/>
                      </a:pPr>
                      <a:r>
                        <a:rPr lang="en-US" altLang="en-US" sz="1400" b="0" cap="none" spc="0" dirty="0">
                          <a:ln>
                            <a:noFill/>
                          </a:ln>
                          <a:solidFill>
                            <a:schemeClr val="tx1"/>
                          </a:solidFill>
                          <a:effectLst/>
                        </a:rPr>
                        <a:t>Description / Purpose</a:t>
                      </a:r>
                      <a:endParaRPr lang="en-US" altLang="en-US" sz="1400" b="0" cap="none" spc="0" dirty="0">
                        <a:ln>
                          <a:noFill/>
                        </a:ln>
                        <a:solidFill>
                          <a:schemeClr val="tx1"/>
                        </a:solidFill>
                        <a:effectLst/>
                      </a:endParaRPr>
                    </a:p>
                  </a:txBody>
                  <a:tcPr marL="38736" marR="38736" marT="19368" marB="19368" anchor="ctr"/>
                </a:tc>
                <a:tc>
                  <a:txBody>
                    <a:bodyPr/>
                    <a:lstStyle/>
                    <a:p>
                      <a:pPr algn="ctr">
                        <a:buNone/>
                      </a:pPr>
                      <a:r>
                        <a:rPr lang="en-IN" sz="1400" dirty="0">
                          <a:ln>
                            <a:noFill/>
                          </a:ln>
                          <a:effectLst/>
                          <a:sym typeface="+mn-ea"/>
                        </a:rPr>
                        <a:t>Data type</a:t>
                      </a:r>
                      <a:endParaRPr lang="en-IN" sz="1400" b="0" cap="none" spc="0" dirty="0">
                        <a:ln>
                          <a:noFill/>
                        </a:ln>
                        <a:solidFill>
                          <a:schemeClr val="tx1"/>
                        </a:solidFill>
                        <a:effectLst/>
                      </a:endParaRPr>
                    </a:p>
                    <a:p>
                      <a:pPr algn="ctr">
                        <a:buNone/>
                      </a:pPr>
                      <a:endParaRPr lang="en-IN" sz="1400" b="0" cap="none" spc="0" dirty="0">
                        <a:ln>
                          <a:noFill/>
                        </a:ln>
                        <a:solidFill>
                          <a:schemeClr val="tx1"/>
                        </a:solidFill>
                        <a:effectLst/>
                      </a:endParaRPr>
                    </a:p>
                  </a:txBody>
                  <a:tcPr marL="38736" marR="38736" marT="19368" marB="19368" anchor="ctr"/>
                </a:tc>
              </a:tr>
              <a:tr h="380621">
                <a:tc>
                  <a:txBody>
                    <a:bodyPr/>
                    <a:lstStyle/>
                    <a:p>
                      <a:pPr algn="ctr">
                        <a:buNone/>
                      </a:pPr>
                      <a:r>
                        <a:rPr lang="en-IN" sz="1400"/>
                        <a:t>1</a:t>
                      </a:r>
                      <a:endParaRPr lang="en-IN" sz="1400"/>
                    </a:p>
                  </a:txBody>
                  <a:tcPr marL="38736" marR="38736" marT="19368" marB="19368" anchor="ctr"/>
                </a:tc>
                <a:tc>
                  <a:txBody>
                    <a:bodyPr/>
                    <a:lstStyle/>
                    <a:p>
                      <a:pPr algn="ctr">
                        <a:buNone/>
                      </a:pPr>
                      <a:r>
                        <a:rPr lang="en-IN" sz="1400"/>
                        <a:t>Date</a:t>
                      </a:r>
                      <a:endParaRPr lang="en-IN" sz="1400"/>
                    </a:p>
                  </a:txBody>
                  <a:tcPr marL="38736" marR="38736" marT="19368" marB="19368" anchor="ctr"/>
                </a:tc>
                <a:tc>
                  <a:txBody>
                    <a:bodyPr/>
                    <a:lstStyle/>
                    <a:p>
                      <a:pPr algn="ctr">
                        <a:buNone/>
                      </a:pPr>
                      <a:r>
                        <a:rPr lang="en-US" altLang="en-US" sz="1400"/>
                        <a:t>The date when the coffee was sold</a:t>
                      </a:r>
                      <a:endParaRPr lang="en-US" altLang="en-US" sz="1400"/>
                    </a:p>
                  </a:txBody>
                  <a:tcPr marL="38736" marR="38736" marT="19368" marB="19368" anchor="ctr"/>
                </a:tc>
                <a:tc>
                  <a:txBody>
                    <a:bodyPr/>
                    <a:lstStyle/>
                    <a:p>
                      <a:pPr algn="ctr">
                        <a:buNone/>
                      </a:pPr>
                      <a:r>
                        <a:rPr lang="en-US" altLang="en-US" sz="1400"/>
                        <a:t> object</a:t>
                      </a:r>
                      <a:endParaRPr lang="en-US" altLang="en-US" sz="1400"/>
                    </a:p>
                  </a:txBody>
                  <a:tcPr marL="38736" marR="38736" marT="19368" marB="19368" anchor="ctr"/>
                </a:tc>
              </a:tr>
              <a:tr h="497586">
                <a:tc>
                  <a:txBody>
                    <a:bodyPr/>
                    <a:lstStyle/>
                    <a:p>
                      <a:pPr algn="ctr">
                        <a:buNone/>
                      </a:pPr>
                      <a:r>
                        <a:rPr lang="en-IN" sz="1400"/>
                        <a:t>2</a:t>
                      </a:r>
                      <a:endParaRPr lang="en-IN" sz="1400"/>
                    </a:p>
                  </a:txBody>
                  <a:tcPr marL="38736" marR="38736" marT="19368" marB="19368" anchor="ctr"/>
                </a:tc>
                <a:tc>
                  <a:txBody>
                    <a:bodyPr/>
                    <a:lstStyle/>
                    <a:p>
                      <a:pPr algn="ctr">
                        <a:buNone/>
                      </a:pPr>
                      <a:r>
                        <a:rPr lang="en-IN" sz="1400"/>
                        <a:t>Time</a:t>
                      </a:r>
                      <a:endParaRPr lang="en-IN" sz="1400"/>
                    </a:p>
                  </a:txBody>
                  <a:tcPr marL="38736" marR="38736" marT="19368" marB="19368" anchor="ctr"/>
                </a:tc>
                <a:tc>
                  <a:txBody>
                    <a:bodyPr/>
                    <a:lstStyle/>
                    <a:p>
                      <a:pPr algn="ctr">
                        <a:buNone/>
                      </a:pPr>
                      <a:r>
                        <a:rPr lang="en-US" altLang="en-US" sz="1400"/>
                        <a:t>Exact time of the transaction</a:t>
                      </a:r>
                      <a:endParaRPr lang="en-US" altLang="en-US" sz="1400"/>
                    </a:p>
                  </a:txBody>
                  <a:tcPr marL="38736" marR="38736" marT="19368" marB="19368" anchor="ctr"/>
                </a:tc>
                <a:tc>
                  <a:txBody>
                    <a:bodyPr/>
                    <a:lstStyle/>
                    <a:p>
                      <a:pPr algn="ctr">
                        <a:buNone/>
                      </a:pPr>
                      <a:r>
                        <a:rPr lang="en-US" altLang="en-US" sz="1400"/>
                        <a:t> object</a:t>
                      </a:r>
                      <a:endParaRPr lang="en-US" altLang="en-US" sz="1400"/>
                    </a:p>
                  </a:txBody>
                  <a:tcPr marL="38736" marR="38736" marT="19368" marB="19368" anchor="ctr"/>
                </a:tc>
              </a:tr>
              <a:tr h="459967">
                <a:tc>
                  <a:txBody>
                    <a:bodyPr/>
                    <a:lstStyle/>
                    <a:p>
                      <a:pPr algn="ctr">
                        <a:buNone/>
                      </a:pPr>
                      <a:r>
                        <a:rPr lang="en-IN" sz="1400"/>
                        <a:t>3</a:t>
                      </a:r>
                      <a:endParaRPr lang="en-IN" sz="1400"/>
                    </a:p>
                  </a:txBody>
                  <a:tcPr marL="38736" marR="38736" marT="19368" marB="19368" anchor="ctr"/>
                </a:tc>
                <a:tc>
                  <a:txBody>
                    <a:bodyPr/>
                    <a:lstStyle/>
                    <a:p>
                      <a:pPr algn="ctr">
                        <a:buNone/>
                      </a:pPr>
                      <a:r>
                        <a:rPr lang="en-IN" sz="1400"/>
                        <a:t>Hour_of_Day</a:t>
                      </a:r>
                      <a:endParaRPr lang="en-IN" sz="1400"/>
                    </a:p>
                  </a:txBody>
                  <a:tcPr marL="38736" marR="38736" marT="19368" marB="19368" anchor="ctr"/>
                </a:tc>
                <a:tc>
                  <a:txBody>
                    <a:bodyPr/>
                    <a:lstStyle/>
                    <a:p>
                      <a:pPr algn="ctr">
                        <a:buNone/>
                      </a:pPr>
                      <a:r>
                        <a:rPr lang="en-US" altLang="en-US" sz="1400" dirty="0"/>
                        <a:t>Hour extracted from the time (used to find peak sales hour</a:t>
                      </a:r>
                      <a:endParaRPr lang="en-US" altLang="en-US" sz="1400" dirty="0"/>
                    </a:p>
                  </a:txBody>
                  <a:tcPr marL="38736" marR="38736" marT="19368" marB="19368" anchor="ctr"/>
                </a:tc>
                <a:tc>
                  <a:txBody>
                    <a:bodyPr/>
                    <a:lstStyle/>
                    <a:p>
                      <a:pPr algn="ctr">
                        <a:buNone/>
                      </a:pPr>
                      <a:r>
                        <a:rPr lang="en-US" altLang="en-US" sz="1400" dirty="0">
                          <a:sym typeface="+mn-ea"/>
                        </a:rPr>
                        <a:t>float64</a:t>
                      </a:r>
                      <a:endParaRPr lang="en-US" altLang="en-US" sz="1400"/>
                    </a:p>
                  </a:txBody>
                  <a:tcPr marL="38736" marR="38736" marT="19368" marB="19368" anchor="ctr"/>
                </a:tc>
              </a:tr>
              <a:tr h="380621">
                <a:tc>
                  <a:txBody>
                    <a:bodyPr/>
                    <a:lstStyle/>
                    <a:p>
                      <a:pPr algn="ctr">
                        <a:buNone/>
                      </a:pPr>
                      <a:r>
                        <a:rPr lang="en-IN" sz="1400"/>
                        <a:t>4</a:t>
                      </a:r>
                      <a:endParaRPr lang="en-IN" sz="1400"/>
                    </a:p>
                  </a:txBody>
                  <a:tcPr marL="38736" marR="38736" marT="19368" marB="19368" anchor="ctr"/>
                </a:tc>
                <a:tc>
                  <a:txBody>
                    <a:bodyPr/>
                    <a:lstStyle/>
                    <a:p>
                      <a:pPr algn="ctr">
                        <a:buNone/>
                      </a:pPr>
                      <a:r>
                        <a:rPr lang="en-IN" sz="1400"/>
                        <a:t>Time_of_Day</a:t>
                      </a:r>
                      <a:endParaRPr lang="en-IN" sz="1400"/>
                    </a:p>
                  </a:txBody>
                  <a:tcPr marL="38736" marR="38736" marT="19368" marB="19368" anchor="ctr"/>
                </a:tc>
                <a:tc>
                  <a:txBody>
                    <a:bodyPr/>
                    <a:lstStyle/>
                    <a:p>
                      <a:pPr algn="ctr">
                        <a:buNone/>
                      </a:pPr>
                      <a:r>
                        <a:rPr lang="en-US" altLang="en-US" sz="1400" dirty="0"/>
                        <a:t>Period of the day (Morning, Afternoon, Evening, etc.)</a:t>
                      </a:r>
                      <a:endParaRPr lang="en-US" altLang="en-US" sz="1400" dirty="0"/>
                    </a:p>
                  </a:txBody>
                  <a:tcPr marL="38736" marR="38736" marT="19368" marB="19368" anchor="ctr"/>
                </a:tc>
                <a:tc>
                  <a:txBody>
                    <a:bodyPr/>
                    <a:lstStyle/>
                    <a:p>
                      <a:pPr algn="ctr">
                        <a:buNone/>
                      </a:pPr>
                      <a:r>
                        <a:rPr lang="en-US" altLang="en-US" sz="1400" dirty="0"/>
                        <a:t> object</a:t>
                      </a:r>
                      <a:endParaRPr lang="en-US" altLang="en-US" sz="1400" dirty="0"/>
                    </a:p>
                  </a:txBody>
                  <a:tcPr marL="38736" marR="38736" marT="19368" marB="19368" anchor="ctr"/>
                </a:tc>
              </a:tr>
              <a:tr h="348319">
                <a:tc>
                  <a:txBody>
                    <a:bodyPr/>
                    <a:lstStyle/>
                    <a:p>
                      <a:pPr algn="ctr">
                        <a:buNone/>
                      </a:pPr>
                      <a:r>
                        <a:rPr lang="en-IN" sz="1400"/>
                        <a:t>5</a:t>
                      </a:r>
                      <a:endParaRPr lang="en-IN" sz="1400"/>
                    </a:p>
                  </a:txBody>
                  <a:tcPr marL="38736" marR="38736" marT="19368" marB="19368" anchor="ctr"/>
                </a:tc>
                <a:tc>
                  <a:txBody>
                    <a:bodyPr/>
                    <a:lstStyle/>
                    <a:p>
                      <a:pPr algn="ctr">
                        <a:buNone/>
                      </a:pPr>
                      <a:r>
                        <a:rPr lang="en-US" altLang="en-US" sz="1400"/>
                        <a:t>Weekday</a:t>
                      </a:r>
                      <a:endParaRPr lang="en-US" altLang="en-US" sz="1400"/>
                    </a:p>
                  </a:txBody>
                  <a:tcPr marL="38736" marR="38736" marT="19368" marB="19368" anchor="ctr"/>
                </a:tc>
                <a:tc>
                  <a:txBody>
                    <a:bodyPr/>
                    <a:lstStyle/>
                    <a:p>
                      <a:pPr algn="ctr">
                        <a:buNone/>
                      </a:pPr>
                      <a:r>
                        <a:rPr lang="en-US" altLang="en-US" sz="1400"/>
                        <a:t>Day name of the week (e.g., Monday, Tuesday)</a:t>
                      </a:r>
                      <a:endParaRPr lang="en-US" altLang="en-US" sz="1400"/>
                    </a:p>
                  </a:txBody>
                  <a:tcPr marL="38736" marR="38736" marT="19368" marB="19368" anchor="ctr"/>
                </a:tc>
                <a:tc>
                  <a:txBody>
                    <a:bodyPr/>
                    <a:lstStyle/>
                    <a:p>
                      <a:pPr algn="ctr">
                        <a:buNone/>
                      </a:pPr>
                      <a:r>
                        <a:rPr lang="en-US" altLang="en-US" sz="1400"/>
                        <a:t> object</a:t>
                      </a:r>
                      <a:endParaRPr lang="en-US" altLang="en-US" sz="1400"/>
                    </a:p>
                  </a:txBody>
                  <a:tcPr marL="38736" marR="38736" marT="19368" marB="19368" anchor="ctr"/>
                </a:tc>
              </a:tr>
              <a:tr h="348319">
                <a:tc>
                  <a:txBody>
                    <a:bodyPr/>
                    <a:lstStyle/>
                    <a:p>
                      <a:pPr algn="ctr">
                        <a:buNone/>
                      </a:pPr>
                      <a:r>
                        <a:rPr lang="en-IN" sz="1400"/>
                        <a:t>6</a:t>
                      </a:r>
                      <a:endParaRPr lang="en-IN" sz="1400"/>
                    </a:p>
                  </a:txBody>
                  <a:tcPr marL="38736" marR="38736" marT="19368" marB="19368" anchor="ctr"/>
                </a:tc>
                <a:tc>
                  <a:txBody>
                    <a:bodyPr/>
                    <a:lstStyle/>
                    <a:p>
                      <a:pPr algn="ctr">
                        <a:buNone/>
                      </a:pPr>
                      <a:r>
                        <a:rPr lang="en-US" altLang="en-US" sz="1400"/>
                        <a:t>Weekday</a:t>
                      </a:r>
                      <a:r>
                        <a:rPr lang="en-IN" altLang="en-US" sz="1400"/>
                        <a:t>sort</a:t>
                      </a:r>
                      <a:endParaRPr lang="en-IN" altLang="en-US" sz="1400"/>
                    </a:p>
                  </a:txBody>
                  <a:tcPr marL="38736" marR="38736" marT="19368" marB="19368" anchor="ctr"/>
                </a:tc>
                <a:tc>
                  <a:txBody>
                    <a:bodyPr/>
                    <a:lstStyle/>
                    <a:p>
                      <a:pPr algn="ctr">
                        <a:buNone/>
                      </a:pPr>
                      <a:r>
                        <a:rPr lang="en-US" altLang="en-US" sz="1400"/>
                        <a:t>Numeric order of the weekday (helps in sorting days)</a:t>
                      </a:r>
                      <a:endParaRPr lang="en-US" altLang="en-US" sz="1400"/>
                    </a:p>
                  </a:txBody>
                  <a:tcPr marL="38736" marR="38736" marT="19368" marB="19368" anchor="ctr"/>
                </a:tc>
                <a:tc>
                  <a:txBody>
                    <a:bodyPr/>
                    <a:lstStyle/>
                    <a:p>
                      <a:pPr algn="ctr">
                        <a:buNone/>
                      </a:pPr>
                      <a:r>
                        <a:rPr lang="en-US" altLang="en-US" sz="1400" dirty="0"/>
                        <a:t>float64</a:t>
                      </a:r>
                      <a:endParaRPr lang="en-US" altLang="en-US" sz="1400" dirty="0"/>
                    </a:p>
                  </a:txBody>
                  <a:tcPr marL="38736" marR="38736" marT="19368" marB="19368" anchor="ctr"/>
                </a:tc>
              </a:tr>
              <a:tr h="502841">
                <a:tc>
                  <a:txBody>
                    <a:bodyPr/>
                    <a:lstStyle/>
                    <a:p>
                      <a:pPr algn="ctr">
                        <a:buNone/>
                      </a:pPr>
                      <a:r>
                        <a:rPr lang="en-IN" sz="1400"/>
                        <a:t>7</a:t>
                      </a:r>
                      <a:endParaRPr lang="en-IN" sz="1400"/>
                    </a:p>
                  </a:txBody>
                  <a:tcPr marL="38736" marR="38736" marT="19368" marB="19368" anchor="ctr"/>
                </a:tc>
                <a:tc>
                  <a:txBody>
                    <a:bodyPr/>
                    <a:lstStyle/>
                    <a:p>
                      <a:pPr algn="ctr">
                        <a:buNone/>
                      </a:pPr>
                      <a:r>
                        <a:rPr lang="en-US" altLang="en-US" sz="1400"/>
                        <a:t>Month_name</a:t>
                      </a:r>
                      <a:endParaRPr lang="en-US" altLang="en-US" sz="1400"/>
                    </a:p>
                  </a:txBody>
                  <a:tcPr marL="38736" marR="38736" marT="19368" marB="19368" anchor="ctr"/>
                </a:tc>
                <a:tc>
                  <a:txBody>
                    <a:bodyPr/>
                    <a:lstStyle/>
                    <a:p>
                      <a:pPr algn="ctr">
                        <a:buNone/>
                      </a:pPr>
                      <a:r>
                        <a:rPr lang="en-US" altLang="en-US" sz="1400"/>
                        <a:t>Name of the month when the sale occurred</a:t>
                      </a:r>
                      <a:endParaRPr lang="en-US" altLang="en-US" sz="1400"/>
                    </a:p>
                  </a:txBody>
                  <a:tcPr marL="38736" marR="38736" marT="19368" marB="19368" anchor="ctr"/>
                </a:tc>
                <a:tc>
                  <a:txBody>
                    <a:bodyPr/>
                    <a:lstStyle/>
                    <a:p>
                      <a:pPr algn="ctr">
                        <a:buNone/>
                      </a:pPr>
                      <a:r>
                        <a:rPr lang="en-US" altLang="en-US" sz="1400" dirty="0"/>
                        <a:t> object</a:t>
                      </a:r>
                      <a:endParaRPr lang="en-US" altLang="en-US" sz="1400" dirty="0"/>
                    </a:p>
                  </a:txBody>
                  <a:tcPr marL="38736" marR="38736" marT="19368" marB="19368" anchor="ctr"/>
                </a:tc>
              </a:tr>
              <a:tr h="459967">
                <a:tc>
                  <a:txBody>
                    <a:bodyPr/>
                    <a:lstStyle/>
                    <a:p>
                      <a:pPr algn="ctr">
                        <a:buNone/>
                      </a:pPr>
                      <a:r>
                        <a:rPr lang="en-IN" sz="1400"/>
                        <a:t>8</a:t>
                      </a:r>
                      <a:endParaRPr lang="en-IN" sz="1400"/>
                    </a:p>
                  </a:txBody>
                  <a:tcPr marL="38736" marR="38736" marT="19368" marB="19368" anchor="ctr"/>
                </a:tc>
                <a:tc>
                  <a:txBody>
                    <a:bodyPr/>
                    <a:lstStyle/>
                    <a:p>
                      <a:pPr algn="ctr">
                        <a:buNone/>
                      </a:pPr>
                      <a:r>
                        <a:rPr lang="en-US" altLang="en-US" sz="1400"/>
                        <a:t>Month</a:t>
                      </a:r>
                      <a:r>
                        <a:rPr lang="en-IN" altLang="en-US" sz="1400"/>
                        <a:t>sort</a:t>
                      </a:r>
                      <a:endParaRPr lang="en-IN" altLang="en-US" sz="1400"/>
                    </a:p>
                  </a:txBody>
                  <a:tcPr marL="38736" marR="38736" marT="19368" marB="19368" anchor="ctr"/>
                </a:tc>
                <a:tc>
                  <a:txBody>
                    <a:bodyPr/>
                    <a:lstStyle/>
                    <a:p>
                      <a:pPr algn="ctr">
                        <a:buNone/>
                      </a:pPr>
                      <a:r>
                        <a:rPr lang="en-US" altLang="en-US" sz="1400"/>
                        <a:t>Numeric order of the month (helps in sorting months)</a:t>
                      </a:r>
                      <a:endParaRPr lang="en-US" altLang="en-US" sz="1400"/>
                    </a:p>
                  </a:txBody>
                  <a:tcPr marL="38736" marR="38736" marT="19368" marB="19368" anchor="ctr"/>
                </a:tc>
                <a:tc>
                  <a:txBody>
                    <a:bodyPr/>
                    <a:lstStyle/>
                    <a:p>
                      <a:pPr algn="ctr">
                        <a:buNone/>
                      </a:pPr>
                      <a:r>
                        <a:rPr lang="en-US" altLang="en-US" sz="1400"/>
                        <a:t>float64</a:t>
                      </a:r>
                      <a:endParaRPr lang="en-US" altLang="en-US" sz="1400"/>
                    </a:p>
                  </a:txBody>
                  <a:tcPr marL="38736" marR="38736" marT="19368" marB="19368" anchor="ctr"/>
                </a:tc>
              </a:tr>
              <a:tr h="459967">
                <a:tc>
                  <a:txBody>
                    <a:bodyPr/>
                    <a:lstStyle/>
                    <a:p>
                      <a:pPr algn="ctr">
                        <a:buNone/>
                      </a:pPr>
                      <a:r>
                        <a:rPr lang="en-IN" sz="1400"/>
                        <a:t>9</a:t>
                      </a:r>
                      <a:endParaRPr lang="en-IN" sz="1400"/>
                    </a:p>
                  </a:txBody>
                  <a:tcPr marL="38736" marR="38736" marT="19368" marB="19368" anchor="ctr"/>
                </a:tc>
                <a:tc>
                  <a:txBody>
                    <a:bodyPr/>
                    <a:lstStyle/>
                    <a:p>
                      <a:pPr algn="ctr">
                        <a:buNone/>
                      </a:pPr>
                      <a:r>
                        <a:rPr lang="en-US" altLang="en-US" sz="1400"/>
                        <a:t>Coffee_name</a:t>
                      </a:r>
                      <a:endParaRPr lang="en-US" altLang="en-US" sz="1400"/>
                    </a:p>
                  </a:txBody>
                  <a:tcPr marL="38736" marR="38736" marT="19368" marB="19368" anchor="ctr"/>
                </a:tc>
                <a:tc>
                  <a:txBody>
                    <a:bodyPr/>
                    <a:lstStyle/>
                    <a:p>
                      <a:pPr algn="ctr">
                        <a:buNone/>
                      </a:pPr>
                      <a:r>
                        <a:rPr lang="en-US" altLang="en-US" sz="1400"/>
                        <a:t>Type or name of coffee sold</a:t>
                      </a:r>
                      <a:endParaRPr lang="en-US" altLang="en-US" sz="1400"/>
                    </a:p>
                  </a:txBody>
                  <a:tcPr marL="38736" marR="38736" marT="19368" marB="19368" anchor="ctr"/>
                </a:tc>
                <a:tc>
                  <a:txBody>
                    <a:bodyPr/>
                    <a:lstStyle/>
                    <a:p>
                      <a:pPr algn="ctr">
                        <a:buNone/>
                      </a:pPr>
                      <a:r>
                        <a:rPr lang="en-US" altLang="en-US" sz="1400" dirty="0"/>
                        <a:t> object</a:t>
                      </a:r>
                      <a:endParaRPr lang="en-US" altLang="en-US" sz="1400" dirty="0"/>
                    </a:p>
                  </a:txBody>
                  <a:tcPr marL="38736" marR="38736" marT="19368" marB="19368" anchor="ctr"/>
                </a:tc>
              </a:tr>
              <a:tr h="459967">
                <a:tc>
                  <a:txBody>
                    <a:bodyPr/>
                    <a:lstStyle/>
                    <a:p>
                      <a:pPr algn="ctr">
                        <a:buNone/>
                      </a:pPr>
                      <a:r>
                        <a:rPr lang="en-IN" sz="1400"/>
                        <a:t>10</a:t>
                      </a:r>
                      <a:endParaRPr lang="en-IN" sz="1400"/>
                    </a:p>
                  </a:txBody>
                  <a:tcPr marL="38736" marR="38736" marT="19368" marB="19368" anchor="ctr"/>
                </a:tc>
                <a:tc>
                  <a:txBody>
                    <a:bodyPr/>
                    <a:lstStyle/>
                    <a:p>
                      <a:pPr algn="ctr">
                        <a:buNone/>
                      </a:pPr>
                      <a:r>
                        <a:rPr lang="en-US" altLang="en-US" sz="1400"/>
                        <a:t>Cash_type</a:t>
                      </a:r>
                      <a:endParaRPr lang="en-US" altLang="en-US" sz="1400"/>
                    </a:p>
                  </a:txBody>
                  <a:tcPr marL="38736" marR="38736" marT="19368" marB="19368" anchor="ctr"/>
                </a:tc>
                <a:tc>
                  <a:txBody>
                    <a:bodyPr/>
                    <a:lstStyle/>
                    <a:p>
                      <a:pPr algn="ctr">
                        <a:buNone/>
                      </a:pPr>
                      <a:r>
                        <a:rPr lang="en-US" altLang="en-US" sz="1400"/>
                        <a:t>Payment method used (e.g., Cash, Card, Online)</a:t>
                      </a:r>
                      <a:endParaRPr lang="en-US" altLang="en-US" sz="1400"/>
                    </a:p>
                  </a:txBody>
                  <a:tcPr marL="38736" marR="38736" marT="19368" marB="19368" anchor="ctr"/>
                </a:tc>
                <a:tc>
                  <a:txBody>
                    <a:bodyPr/>
                    <a:lstStyle/>
                    <a:p>
                      <a:pPr algn="ctr">
                        <a:buNone/>
                      </a:pPr>
                      <a:r>
                        <a:rPr lang="en-US" altLang="en-US" sz="1400" dirty="0"/>
                        <a:t> object</a:t>
                      </a:r>
                      <a:endParaRPr lang="en-US" altLang="en-US" sz="1400" dirty="0"/>
                    </a:p>
                  </a:txBody>
                  <a:tcPr marL="38736" marR="38736" marT="19368" marB="19368" anchor="ctr"/>
                </a:tc>
              </a:tr>
              <a:tr h="601313">
                <a:tc>
                  <a:txBody>
                    <a:bodyPr/>
                    <a:lstStyle/>
                    <a:p>
                      <a:pPr algn="ctr">
                        <a:buNone/>
                      </a:pPr>
                      <a:r>
                        <a:rPr lang="en-IN" sz="1400"/>
                        <a:t>11</a:t>
                      </a:r>
                      <a:endParaRPr lang="en-IN" sz="1400"/>
                    </a:p>
                  </a:txBody>
                  <a:tcPr marL="38736" marR="38736" marT="19368" marB="19368" anchor="ctr"/>
                </a:tc>
                <a:tc>
                  <a:txBody>
                    <a:bodyPr/>
                    <a:lstStyle/>
                    <a:p>
                      <a:pPr algn="ctr">
                        <a:buNone/>
                      </a:pPr>
                      <a:r>
                        <a:rPr lang="en-US" altLang="en-US" sz="1400"/>
                        <a:t>Money</a:t>
                      </a:r>
                      <a:endParaRPr lang="en-US" altLang="en-US" sz="1400"/>
                    </a:p>
                  </a:txBody>
                  <a:tcPr marL="38736" marR="38736" marT="19368" marB="19368" anchor="ctr"/>
                </a:tc>
                <a:tc>
                  <a:txBody>
                    <a:bodyPr/>
                    <a:lstStyle/>
                    <a:p>
                      <a:pPr algn="ctr">
                        <a:buNone/>
                      </a:pPr>
                      <a:r>
                        <a:rPr lang="en-US" altLang="en-US" sz="1400"/>
                        <a:t>Amount earned from each transaction</a:t>
                      </a:r>
                      <a:endParaRPr lang="en-US" altLang="en-US" sz="1400"/>
                    </a:p>
                  </a:txBody>
                  <a:tcPr marL="38736" marR="38736" marT="19368" marB="19368" anchor="ctr"/>
                </a:tc>
                <a:tc>
                  <a:txBody>
                    <a:bodyPr/>
                    <a:lstStyle/>
                    <a:p>
                      <a:pPr algn="ctr">
                        <a:buNone/>
                      </a:pPr>
                      <a:r>
                        <a:rPr lang="en-US" altLang="en-US" sz="1400" dirty="0">
                          <a:sym typeface="+mn-ea"/>
                        </a:rPr>
                        <a:t>float64</a:t>
                      </a:r>
                      <a:endParaRPr lang="en-US" altLang="en-US" sz="1400" dirty="0"/>
                    </a:p>
                  </a:txBody>
                  <a:tcPr marL="38736" marR="38736" marT="19368" marB="19368" anchor="ct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73455" y="97790"/>
            <a:ext cx="10029190" cy="748030"/>
          </a:xfrm>
          <a:prstGeom prst="rect">
            <a:avLst/>
          </a:prstGeom>
          <a:noFill/>
        </p:spPr>
        <p:txBody>
          <a:bodyPr wrap="square" rtlCol="0">
            <a:noAutofit/>
          </a:bodyPr>
          <a:lstStyle/>
          <a:p>
            <a:pPr marL="742950" indent="-742950">
              <a:buFont typeface="Wingdings" panose="05000000000000000000" pitchFamily="2" charset="2"/>
              <a:buChar char="§"/>
            </a:pPr>
            <a:r>
              <a:rPr lang="en-IN" sz="3600" b="1" dirty="0">
                <a:latin typeface="Calibri" panose="020F0502020204030204" pitchFamily="34" charset="0"/>
                <a:ea typeface="Calibri" panose="020F0502020204030204" pitchFamily="34" charset="0"/>
                <a:cs typeface="Calibri" panose="020F0502020204030204" pitchFamily="34" charset="0"/>
              </a:rPr>
              <a:t>Handling Outliers</a:t>
            </a:r>
            <a:endParaRPr lang="en-IN" sz="3600" dirty="0"/>
          </a:p>
        </p:txBody>
      </p:sp>
      <p:sp>
        <p:nvSpPr>
          <p:cNvPr id="3" name="TextBox 2"/>
          <p:cNvSpPr txBox="1"/>
          <p:nvPr/>
        </p:nvSpPr>
        <p:spPr>
          <a:xfrm>
            <a:off x="974090" y="846455"/>
            <a:ext cx="11818620" cy="862965"/>
          </a:xfrm>
          <a:prstGeom prst="rect">
            <a:avLst/>
          </a:prstGeom>
          <a:noFill/>
        </p:spPr>
        <p:txBody>
          <a:bodyPr wrap="square" rtlCol="0">
            <a:noAutofit/>
          </a:bodyPr>
          <a:lstStyle/>
          <a:p>
            <a:pPr marL="114300" indent="0">
              <a:buNone/>
            </a:pPr>
            <a:r>
              <a:rPr lang="en-US" altLang="en-US" sz="1800" b="1" dirty="0">
                <a:latin typeface="Calibri" panose="020F0502020204030204" pitchFamily="34" charset="0"/>
                <a:ea typeface="Calibri" panose="020F0502020204030204" pitchFamily="34" charset="0"/>
                <a:cs typeface="Calibri" panose="020F0502020204030204" pitchFamily="34" charset="0"/>
              </a:rPr>
              <a:t>Outliers are data points that lie far away from most other values.</a:t>
            </a:r>
            <a:endParaRPr lang="en-US" altLang="en-US" sz="1800" b="1" dirty="0">
              <a:latin typeface="Calibri" panose="020F0502020204030204" pitchFamily="34" charset="0"/>
              <a:ea typeface="Calibri" panose="020F0502020204030204" pitchFamily="34" charset="0"/>
              <a:cs typeface="Calibri" panose="020F0502020204030204" pitchFamily="34" charset="0"/>
            </a:endParaRPr>
          </a:p>
          <a:p>
            <a:pPr marL="114300" indent="0">
              <a:buNone/>
            </a:pPr>
            <a:r>
              <a:rPr lang="en-US" altLang="en-US" sz="1800" b="1" dirty="0">
                <a:latin typeface="Calibri" panose="020F0502020204030204" pitchFamily="34" charset="0"/>
                <a:ea typeface="Calibri" panose="020F0502020204030204" pitchFamily="34" charset="0"/>
                <a:cs typeface="Calibri" panose="020F0502020204030204" pitchFamily="34" charset="0"/>
              </a:rPr>
              <a:t>In coffee sales, they represent unusually high or low spending compared to the typical customer behavior.</a:t>
            </a:r>
            <a:endParaRPr lang="en-US" altLang="en-US" sz="1800" b="1" dirty="0">
              <a:latin typeface="Calibri" panose="020F0502020204030204" pitchFamily="34" charset="0"/>
              <a:ea typeface="Calibri" panose="020F0502020204030204" pitchFamily="34" charset="0"/>
              <a:cs typeface="Calibri" panose="020F0502020204030204" pitchFamily="34" charset="0"/>
            </a:endParaRPr>
          </a:p>
        </p:txBody>
      </p:sp>
      <p:sp>
        <p:nvSpPr>
          <p:cNvPr id="4" name="TextBox 3"/>
          <p:cNvSpPr txBox="1"/>
          <p:nvPr/>
        </p:nvSpPr>
        <p:spPr>
          <a:xfrm>
            <a:off x="973455" y="1624330"/>
            <a:ext cx="9507855" cy="2255520"/>
          </a:xfrm>
          <a:prstGeom prst="rect">
            <a:avLst/>
          </a:prstGeom>
          <a:noFill/>
        </p:spPr>
        <p:txBody>
          <a:bodyPr wrap="square" rtlCol="0">
            <a:noAutofit/>
          </a:bodyPr>
          <a:lstStyle/>
          <a:p>
            <a:pPr marL="285750" lvl="1" indent="-285750">
              <a:lnSpc>
                <a:spcPct val="150000"/>
              </a:lnSpc>
              <a:buFont typeface="Arial" panose="020B0604020202020204" pitchFamily="34" charset="0"/>
              <a:buChar char="•"/>
            </a:pPr>
            <a:r>
              <a:rPr lang="en-US" altLang="en-US" sz="1600" dirty="0"/>
              <a:t>The box plot for Money Spent ($) shows some outlier points (circles), especially in the Night category.</a:t>
            </a:r>
            <a:endParaRPr lang="en-US" altLang="en-US" sz="1600" dirty="0"/>
          </a:p>
          <a:p>
            <a:pPr marL="285750" lvl="1" indent="-285750">
              <a:lnSpc>
                <a:spcPct val="150000"/>
              </a:lnSpc>
              <a:buFont typeface="Arial" panose="020B0604020202020204" pitchFamily="34" charset="0"/>
              <a:buChar char="•"/>
            </a:pPr>
            <a:r>
              <a:rPr lang="en-US" altLang="en-US" sz="1600" dirty="0"/>
              <a:t>These indicate that a few customers spent much less than the usual spending range at night.</a:t>
            </a:r>
            <a:endParaRPr lang="en-US" altLang="en-US" sz="1600" dirty="0"/>
          </a:p>
          <a:p>
            <a:pPr marL="285750" lvl="1" indent="-285750">
              <a:lnSpc>
                <a:spcPct val="150000"/>
              </a:lnSpc>
              <a:buFont typeface="Arial" panose="020B0604020202020204" pitchFamily="34" charset="0"/>
              <a:buChar char="•"/>
            </a:pPr>
            <a:r>
              <a:rPr lang="en-US" altLang="en-US" sz="1600" dirty="0"/>
              <a:t>Morning and Afternoon times have more consistent spending (no visible outliers).</a:t>
            </a:r>
            <a:endParaRPr lang="en-US" altLang="en-US" sz="1600" dirty="0"/>
          </a:p>
          <a:p>
            <a:pPr marL="285750" lvl="1" indent="-285750">
              <a:lnSpc>
                <a:spcPct val="150000"/>
              </a:lnSpc>
              <a:buFont typeface="Arial" panose="020B0604020202020204" pitchFamily="34" charset="0"/>
              <a:buChar char="•"/>
            </a:pPr>
            <a:r>
              <a:rPr lang="en-US" altLang="en-US" sz="1600" dirty="0"/>
              <a:t>Outliers can mislead the mean, making results appear higher or lower than reality.</a:t>
            </a:r>
            <a:endParaRPr lang="en-US" altLang="en-US" sz="1600" dirty="0"/>
          </a:p>
          <a:p>
            <a:pPr marL="285750" lvl="1" indent="-285750">
              <a:lnSpc>
                <a:spcPct val="150000"/>
              </a:lnSpc>
              <a:buFont typeface="Arial" panose="020B0604020202020204" pitchFamily="34" charset="0"/>
              <a:buChar char="•"/>
            </a:pPr>
            <a:r>
              <a:rPr lang="en-US" altLang="en-US" sz="1600" dirty="0"/>
              <a:t>Removing outliers helps in getting accurate, balanced, and</a:t>
            </a:r>
            <a:r>
              <a:rPr lang="en-IN" altLang="en-US" sz="1600" dirty="0"/>
              <a:t> trust and meaningful</a:t>
            </a:r>
            <a:r>
              <a:rPr lang="en-US" altLang="en-US" sz="1600" dirty="0"/>
              <a:t> insights.</a:t>
            </a:r>
            <a:endParaRPr lang="en-US" altLang="en-US" sz="1600" dirty="0"/>
          </a:p>
        </p:txBody>
      </p:sp>
      <p:pic>
        <p:nvPicPr>
          <p:cNvPr id="6" name="Picture 5"/>
          <p:cNvPicPr>
            <a:picLocks noChangeAspect="1"/>
          </p:cNvPicPr>
          <p:nvPr/>
        </p:nvPicPr>
        <p:blipFill>
          <a:blip r:embed="rId1"/>
          <a:stretch>
            <a:fillRect/>
          </a:stretch>
        </p:blipFill>
        <p:spPr>
          <a:xfrm>
            <a:off x="174625" y="4076065"/>
            <a:ext cx="4349115" cy="2781935"/>
          </a:xfrm>
          <a:prstGeom prst="rect">
            <a:avLst/>
          </a:prstGeom>
        </p:spPr>
      </p:pic>
      <p:pic>
        <p:nvPicPr>
          <p:cNvPr id="8" name="Picture 7"/>
          <p:cNvPicPr>
            <a:picLocks noChangeAspect="1"/>
          </p:cNvPicPr>
          <p:nvPr/>
        </p:nvPicPr>
        <p:blipFill>
          <a:blip r:embed="rId2"/>
          <a:stretch>
            <a:fillRect/>
          </a:stretch>
        </p:blipFill>
        <p:spPr>
          <a:xfrm>
            <a:off x="4422140" y="3911600"/>
            <a:ext cx="4375150" cy="2946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737419" y="422787"/>
            <a:ext cx="10481187" cy="584775"/>
          </a:xfrm>
          <a:prstGeom prst="rect">
            <a:avLst/>
          </a:prstGeom>
          <a:noFill/>
        </p:spPr>
        <p:txBody>
          <a:bodyPr wrap="square" rtlCol="0">
            <a:spAutoFit/>
          </a:bodyPr>
          <a:lstStyle/>
          <a:p>
            <a:pPr marL="457200" indent="-457200">
              <a:buFont typeface="Wingdings" panose="05000000000000000000" pitchFamily="2" charset="2"/>
              <a:buChar char="§"/>
            </a:pPr>
            <a:r>
              <a:rPr lang="en-IN" sz="3200" b="1" dirty="0">
                <a:latin typeface="Calibri" panose="020F0502020204030204" pitchFamily="34" charset="0"/>
                <a:ea typeface="Calibri" panose="020F0502020204030204" pitchFamily="34" charset="0"/>
                <a:cs typeface="Calibri" panose="020F0502020204030204" pitchFamily="34" charset="0"/>
              </a:rPr>
              <a:t>Univariate Analysis </a:t>
            </a:r>
            <a:endParaRPr lang="en-IN" sz="3200" b="1"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p:cNvSpPr txBox="1"/>
          <p:nvPr/>
        </p:nvSpPr>
        <p:spPr>
          <a:xfrm>
            <a:off x="737235" y="1101725"/>
            <a:ext cx="10481310" cy="537845"/>
          </a:xfrm>
          <a:prstGeom prst="rect">
            <a:avLst/>
          </a:prstGeom>
          <a:noFill/>
        </p:spPr>
        <p:txBody>
          <a:bodyPr wrap="square" rtlCol="0">
            <a:noAutofit/>
          </a:bodyPr>
          <a:lstStyle/>
          <a:p>
            <a:r>
              <a:rPr lang="en-US" altLang="en-US" sz="1800" b="1" dirty="0">
                <a:latin typeface="Calibri" panose="020F0502020204030204" pitchFamily="34" charset="0"/>
                <a:ea typeface="Calibri" panose="020F0502020204030204" pitchFamily="34" charset="0"/>
                <a:cs typeface="Calibri" panose="020F0502020204030204" pitchFamily="34" charset="0"/>
              </a:rPr>
              <a:t>Univariate analysis means analyzing one variable (or column) at a time to understand its pattern, distribution, or frequency.</a:t>
            </a:r>
            <a:endParaRPr lang="en-US" altLang="en-US" sz="1800" b="1" dirty="0">
              <a:latin typeface="Calibri" panose="020F0502020204030204" pitchFamily="34" charset="0"/>
              <a:ea typeface="Calibri" panose="020F0502020204030204" pitchFamily="34" charset="0"/>
              <a:cs typeface="Calibri" panose="020F0502020204030204" pitchFamily="34" charset="0"/>
            </a:endParaRPr>
          </a:p>
        </p:txBody>
      </p:sp>
      <p:sp>
        <p:nvSpPr>
          <p:cNvPr id="13" name="TextBox 12"/>
          <p:cNvSpPr txBox="1"/>
          <p:nvPr/>
        </p:nvSpPr>
        <p:spPr>
          <a:xfrm>
            <a:off x="737235" y="1639570"/>
            <a:ext cx="10481310" cy="1678305"/>
          </a:xfrm>
          <a:prstGeom prst="rect">
            <a:avLst/>
          </a:prstGeom>
          <a:noFill/>
        </p:spPr>
        <p:txBody>
          <a:bodyPr wrap="square" rtlCol="0">
            <a:noAutofit/>
          </a:bodyPr>
          <a:lstStyle/>
          <a:p>
            <a:pPr marL="285750" indent="-285750">
              <a:lnSpc>
                <a:spcPct val="150000"/>
              </a:lnSpc>
              <a:buFont typeface="Arial" panose="020B0604020202020204" pitchFamily="34" charset="0"/>
              <a:buChar char="•"/>
            </a:pPr>
            <a:r>
              <a:rPr lang="en-US" altLang="en-US" sz="1600" dirty="0" err="1"/>
              <a:t>The analysis shows that Americano with Milk and Latte are the most popular coffee types among customers.</a:t>
            </a:r>
            <a:endParaRPr lang="en-US" altLang="en-US" sz="1600" dirty="0" err="1"/>
          </a:p>
          <a:p>
            <a:pPr marL="285750" indent="-285750">
              <a:lnSpc>
                <a:spcPct val="150000"/>
              </a:lnSpc>
              <a:buFont typeface="Arial" panose="020B0604020202020204" pitchFamily="34" charset="0"/>
              <a:buChar char="•"/>
            </a:pPr>
            <a:r>
              <a:rPr lang="en-US" altLang="en-US" sz="1600" dirty="0" err="1"/>
              <a:t>Sales transactions peak between 9 AM and 12 PM, indicating that most coffee purchases occur during the Morning hours are the busiest for sales </a:t>
            </a:r>
            <a:r>
              <a:rPr lang="en-IN" altLang="en-US" sz="1600" dirty="0" err="1"/>
              <a:t>.</a:t>
            </a:r>
            <a:endParaRPr lang="en-IN" altLang="en-US" sz="1600" dirty="0" err="1"/>
          </a:p>
        </p:txBody>
      </p:sp>
      <p:pic>
        <p:nvPicPr>
          <p:cNvPr id="4" name="Picture 3"/>
          <p:cNvPicPr>
            <a:picLocks noChangeAspect="1"/>
          </p:cNvPicPr>
          <p:nvPr/>
        </p:nvPicPr>
        <p:blipFill>
          <a:blip r:embed="rId1"/>
          <a:stretch>
            <a:fillRect/>
          </a:stretch>
        </p:blipFill>
        <p:spPr>
          <a:xfrm>
            <a:off x="0" y="2869565"/>
            <a:ext cx="9130665" cy="398843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4119" y="439669"/>
            <a:ext cx="10019025" cy="646331"/>
          </a:xfrm>
          <a:prstGeom prst="rect">
            <a:avLst/>
          </a:prstGeom>
          <a:noFill/>
        </p:spPr>
        <p:txBody>
          <a:bodyPr wrap="square" rtlCol="0">
            <a:spAutoFit/>
          </a:bodyPr>
          <a:lstStyle/>
          <a:p>
            <a:r>
              <a:rPr lang="en-IN" sz="3600" b="1" dirty="0">
                <a:latin typeface="Calibri" panose="020F0502020204030204" pitchFamily="34" charset="0"/>
                <a:ea typeface="Calibri" panose="020F0502020204030204" pitchFamily="34" charset="0"/>
                <a:cs typeface="Calibri" panose="020F0502020204030204" pitchFamily="34" charset="0"/>
              </a:rPr>
              <a:t>Bivariate Analysis</a:t>
            </a:r>
            <a:endParaRPr lang="en-IN" sz="36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TextBox 2"/>
          <p:cNvSpPr txBox="1"/>
          <p:nvPr/>
        </p:nvSpPr>
        <p:spPr>
          <a:xfrm>
            <a:off x="561473" y="1183150"/>
            <a:ext cx="10892590" cy="337185"/>
          </a:xfrm>
          <a:prstGeom prst="rect">
            <a:avLst/>
          </a:prstGeom>
          <a:noFill/>
        </p:spPr>
        <p:txBody>
          <a:bodyPr wrap="square" rtlCol="0">
            <a:spAutoFit/>
          </a:bodyPr>
          <a:lstStyle/>
          <a:p>
            <a:r>
              <a:rPr lang="en-US" altLang="en-US" sz="1600" b="1" dirty="0">
                <a:latin typeface="Calibri" panose="020F0502020204030204" pitchFamily="34" charset="0"/>
                <a:ea typeface="Calibri" panose="020F0502020204030204" pitchFamily="34" charset="0"/>
                <a:cs typeface="Calibri" panose="020F0502020204030204" pitchFamily="34" charset="0"/>
              </a:rPr>
              <a:t>Bivariate analysis means studying the relationship between two variables to understand how one affects the other.</a:t>
            </a:r>
            <a:endParaRPr lang="en-US" altLang="en-US" sz="1600" b="1" dirty="0">
              <a:latin typeface="Calibri" panose="020F0502020204030204" pitchFamily="34" charset="0"/>
              <a:ea typeface="Calibri" panose="020F0502020204030204" pitchFamily="34" charset="0"/>
              <a:cs typeface="Calibri" panose="020F0502020204030204" pitchFamily="34" charset="0"/>
            </a:endParaRPr>
          </a:p>
        </p:txBody>
      </p:sp>
      <p:sp>
        <p:nvSpPr>
          <p:cNvPr id="4" name="TextBox 3"/>
          <p:cNvSpPr txBox="1"/>
          <p:nvPr/>
        </p:nvSpPr>
        <p:spPr>
          <a:xfrm>
            <a:off x="561340" y="1555115"/>
            <a:ext cx="10892790" cy="415290"/>
          </a:xfrm>
          <a:prstGeom prst="rect">
            <a:avLst/>
          </a:prstGeom>
          <a:noFill/>
        </p:spPr>
        <p:txBody>
          <a:bodyPr wrap="square" rtlCol="0">
            <a:no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1. Numerical vs Numerical</a:t>
            </a:r>
            <a:r>
              <a:rPr lang="en-IN" sz="2400" dirty="0">
                <a:latin typeface="Calibri" panose="020F0502020204030204" pitchFamily="34" charset="0"/>
                <a:ea typeface="Calibri" panose="020F0502020204030204" pitchFamily="34" charset="0"/>
                <a:cs typeface="Calibri" panose="020F0502020204030204" pitchFamily="34" charset="0"/>
              </a:rPr>
              <a:t>:</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5" name="TextBox 4"/>
          <p:cNvSpPr txBox="1"/>
          <p:nvPr/>
        </p:nvSpPr>
        <p:spPr>
          <a:xfrm>
            <a:off x="729615" y="2005965"/>
            <a:ext cx="10732135" cy="1081405"/>
          </a:xfrm>
          <a:prstGeom prst="rect">
            <a:avLst/>
          </a:prstGeom>
          <a:noFill/>
        </p:spPr>
        <p:txBody>
          <a:bodyPr wrap="square" rtlCol="0">
            <a:noAutofit/>
          </a:bodyPr>
          <a:lstStyle/>
          <a:p>
            <a:pPr marL="285750" indent="-285750">
              <a:buFont typeface="Arial" panose="020B0604020202020204" pitchFamily="34" charset="0"/>
              <a:buChar char="•"/>
            </a:pPr>
            <a:r>
              <a:rPr lang="en-US" altLang="en-US" sz="1600" dirty="0">
                <a:latin typeface="+mn-lt"/>
              </a:rPr>
              <a:t>The analysis shows that total sales peak between 9 AM and 11 AM, with another rise around 3 PM to 5 PM. This indicates that most customers purchase coffee during morning and afternoon hours, making these the most profitable times of the day.</a:t>
            </a:r>
            <a:r>
              <a:rPr lang="en-US" sz="1600" dirty="0">
                <a:latin typeface="+mn-lt"/>
              </a:rPr>
              <a:t>.</a:t>
            </a:r>
            <a:endParaRPr lang="en-IN" sz="1600" dirty="0">
              <a:latin typeface="+mn-lt"/>
            </a:endParaRPr>
          </a:p>
        </p:txBody>
      </p:sp>
      <p:pic>
        <p:nvPicPr>
          <p:cNvPr id="6" name="Picture 5"/>
          <p:cNvPicPr>
            <a:picLocks noChangeAspect="1"/>
          </p:cNvPicPr>
          <p:nvPr/>
        </p:nvPicPr>
        <p:blipFill>
          <a:blip r:embed="rId1"/>
          <a:stretch>
            <a:fillRect/>
          </a:stretch>
        </p:blipFill>
        <p:spPr>
          <a:xfrm>
            <a:off x="560705" y="2831465"/>
            <a:ext cx="10901680" cy="350710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7822" y="308422"/>
            <a:ext cx="10796337" cy="461665"/>
          </a:xfrm>
          <a:prstGeom prst="rect">
            <a:avLst/>
          </a:prstGeom>
          <a:noFill/>
        </p:spPr>
        <p:txBody>
          <a:bodyPr wrap="square" rtlCol="0">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2. Categorical vs Categorical</a:t>
            </a:r>
            <a:endParaRPr lang="en-IN" sz="24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TextBox 2"/>
          <p:cNvSpPr txBox="1"/>
          <p:nvPr/>
        </p:nvSpPr>
        <p:spPr>
          <a:xfrm>
            <a:off x="497840" y="927735"/>
            <a:ext cx="10796270" cy="1625600"/>
          </a:xfrm>
          <a:prstGeom prst="rect">
            <a:avLst/>
          </a:prstGeom>
          <a:noFill/>
        </p:spPr>
        <p:txBody>
          <a:bodyPr wrap="square" rtlCol="0">
            <a:noAutofit/>
          </a:bodyPr>
          <a:lstStyle/>
          <a:p>
            <a:pPr marL="285750" indent="-285750">
              <a:buFont typeface="Arial" panose="020B0604020202020204" pitchFamily="34" charset="0"/>
              <a:buChar char="•"/>
            </a:pPr>
            <a:r>
              <a:rPr lang="en-US" altLang="en-US" sz="1600" dirty="0">
                <a:latin typeface="+mn-lt"/>
              </a:rPr>
              <a:t>Sales are highest on Monday, Thursday, and Friday.</a:t>
            </a:r>
            <a:r>
              <a:rPr lang="en-IN" altLang="en-US" sz="1600" dirty="0">
                <a:latin typeface="+mn-lt"/>
              </a:rPr>
              <a:t>and </a:t>
            </a:r>
            <a:r>
              <a:rPr lang="en-US" altLang="en-US" sz="1600" dirty="0">
                <a:latin typeface="+mn-lt"/>
              </a:rPr>
              <a:t>Lowest sales occur on Sunday.</a:t>
            </a:r>
            <a:endParaRPr lang="en-US" altLang="en-US" sz="1600" dirty="0">
              <a:latin typeface="+mn-lt"/>
            </a:endParaRPr>
          </a:p>
          <a:p>
            <a:pPr marL="285750" indent="-285750">
              <a:buFont typeface="Arial" panose="020B0604020202020204" pitchFamily="34" charset="0"/>
              <a:buChar char="•"/>
            </a:pPr>
            <a:r>
              <a:rPr lang="en-US" altLang="en-US" sz="1600" dirty="0">
                <a:latin typeface="+mn-lt"/>
              </a:rPr>
              <a:t>Morning and Afternoon are the busiest times for coffee purchases.</a:t>
            </a:r>
            <a:endParaRPr lang="en-US" altLang="en-US" sz="1600" dirty="0">
              <a:latin typeface="+mn-lt"/>
            </a:endParaRPr>
          </a:p>
          <a:p>
            <a:pPr marL="285750" indent="-285750">
              <a:buFont typeface="Arial" panose="020B0604020202020204" pitchFamily="34" charset="0"/>
              <a:buChar char="•"/>
            </a:pPr>
            <a:r>
              <a:rPr lang="en-US" altLang="en-US" sz="1600" dirty="0">
                <a:latin typeface="+mn-lt"/>
              </a:rPr>
              <a:t>Indicates strong demand from working professionals during weekdays.</a:t>
            </a:r>
            <a:endParaRPr lang="en-US" altLang="en-US" sz="1600" dirty="0">
              <a:latin typeface="+mn-lt"/>
            </a:endParaRPr>
          </a:p>
          <a:p>
            <a:pPr marL="285750" indent="-285750">
              <a:buFont typeface="Arial" panose="020B0604020202020204" pitchFamily="34" charset="0"/>
              <a:buChar char="•"/>
            </a:pPr>
            <a:r>
              <a:rPr lang="en-US" altLang="en-US" sz="1600" dirty="0">
                <a:latin typeface="+mn-lt"/>
              </a:rPr>
              <a:t>Latte, Cappuccino, and Americano with Milk have the highest average spending.</a:t>
            </a:r>
            <a:endParaRPr lang="en-US" altLang="en-US" sz="1600" dirty="0">
              <a:latin typeface="+mn-lt"/>
            </a:endParaRPr>
          </a:p>
          <a:p>
            <a:pPr marL="285750" indent="-285750">
              <a:buFont typeface="Arial" panose="020B0604020202020204" pitchFamily="34" charset="0"/>
              <a:buChar char="•"/>
            </a:pPr>
            <a:r>
              <a:rPr lang="en-US" altLang="en-US" sz="1600" dirty="0">
                <a:latin typeface="+mn-lt"/>
              </a:rPr>
              <a:t>Spending is slightly higher in the morning, showing premium choices early in the day.</a:t>
            </a:r>
            <a:endParaRPr lang="en-US" altLang="en-US" sz="1600" dirty="0">
              <a:latin typeface="+mn-lt"/>
            </a:endParaRPr>
          </a:p>
          <a:p>
            <a:pPr marL="285750" indent="-285750">
              <a:buFont typeface="Arial" panose="020B0604020202020204" pitchFamily="34" charset="0"/>
              <a:buChar char="•"/>
            </a:pPr>
            <a:r>
              <a:rPr lang="en-US" altLang="en-US" sz="1600" dirty="0">
                <a:latin typeface="+mn-lt"/>
              </a:rPr>
              <a:t>Cortado and Espresso show lower spending, likely due to smaller sizes or prices.</a:t>
            </a:r>
            <a:endParaRPr lang="en-US" altLang="en-US" sz="1600" dirty="0">
              <a:latin typeface="+mn-lt"/>
            </a:endParaRPr>
          </a:p>
          <a:p>
            <a:pPr marL="285750" indent="-285750">
              <a:buFont typeface="Arial" panose="020B0604020202020204" pitchFamily="34" charset="0"/>
              <a:buChar char="•"/>
            </a:pPr>
            <a:endParaRPr lang="en-US" altLang="en-US" sz="1600" dirty="0">
              <a:latin typeface="+mn-lt"/>
            </a:endParaRPr>
          </a:p>
          <a:p>
            <a:pPr marL="285750" indent="-285750">
              <a:buFont typeface="Arial" panose="020B0604020202020204" pitchFamily="34" charset="0"/>
              <a:buChar char="•"/>
            </a:pPr>
            <a:r>
              <a:rPr lang="en-US" altLang="en-US" sz="1600" dirty="0">
                <a:latin typeface="+mn-lt"/>
              </a:rPr>
              <a:t>Overall spending remains consistent throughout the day.</a:t>
            </a:r>
            <a:endParaRPr lang="en-US" altLang="en-US" sz="1600" dirty="0">
              <a:latin typeface="+mn-lt"/>
            </a:endParaRPr>
          </a:p>
        </p:txBody>
      </p:sp>
      <p:pic>
        <p:nvPicPr>
          <p:cNvPr id="5" name="Picture 4"/>
          <p:cNvPicPr>
            <a:picLocks noChangeAspect="1"/>
          </p:cNvPicPr>
          <p:nvPr/>
        </p:nvPicPr>
        <p:blipFill>
          <a:blip r:embed="rId1"/>
          <a:stretch>
            <a:fillRect/>
          </a:stretch>
        </p:blipFill>
        <p:spPr>
          <a:xfrm>
            <a:off x="-635" y="2698750"/>
            <a:ext cx="8942705" cy="41592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3558" y="391543"/>
            <a:ext cx="10764253" cy="461665"/>
          </a:xfrm>
          <a:prstGeom prst="rect">
            <a:avLst/>
          </a:prstGeom>
          <a:noFill/>
        </p:spPr>
        <p:txBody>
          <a:bodyPr wrap="square" rtlCol="0">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3. Numerical vs Categorical:</a:t>
            </a:r>
            <a:endParaRPr lang="en-IN" sz="24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TextBox 2"/>
          <p:cNvSpPr txBox="1"/>
          <p:nvPr/>
        </p:nvSpPr>
        <p:spPr>
          <a:xfrm>
            <a:off x="593725" y="988695"/>
            <a:ext cx="10764520" cy="2011045"/>
          </a:xfrm>
          <a:prstGeom prst="rect">
            <a:avLst/>
          </a:prstGeom>
          <a:noFill/>
        </p:spPr>
        <p:txBody>
          <a:bodyPr wrap="square" rtlCol="0">
            <a:noAutofit/>
          </a:bodyPr>
          <a:lstStyle/>
          <a:p>
            <a:pPr marL="285750" indent="-285750">
              <a:buFont typeface="Arial" panose="020B0604020202020204" pitchFamily="34" charset="0"/>
              <a:buChar char="•"/>
            </a:pPr>
            <a:r>
              <a:rPr lang="en-US" altLang="en-US" sz="1600" dirty="0">
                <a:latin typeface="Calibri" panose="020F0502020204030204" pitchFamily="34" charset="0"/>
                <a:ea typeface="Calibri" panose="020F0502020204030204" pitchFamily="34" charset="0"/>
                <a:cs typeface="Calibri" panose="020F0502020204030204" pitchFamily="34" charset="0"/>
              </a:rPr>
              <a:t>Spending is consistent across all weekdays.</a:t>
            </a:r>
            <a:endParaRPr lang="en-US" altLang="en-US" sz="16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altLang="en-US" sz="1600" dirty="0">
                <a:latin typeface="Calibri" panose="020F0502020204030204" pitchFamily="34" charset="0"/>
                <a:ea typeface="Calibri" panose="020F0502020204030204" pitchFamily="34" charset="0"/>
                <a:cs typeface="Calibri" panose="020F0502020204030204" pitchFamily="34" charset="0"/>
              </a:rPr>
              <a:t>Average spend: ₹30–₹35..</a:t>
            </a:r>
            <a:endParaRPr lang="en-US" altLang="en-US" sz="16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altLang="en-US" sz="1600" dirty="0">
                <a:latin typeface="Calibri" panose="020F0502020204030204" pitchFamily="34" charset="0"/>
                <a:ea typeface="Calibri" panose="020F0502020204030204" pitchFamily="34" charset="0"/>
                <a:cs typeface="Calibri" panose="020F0502020204030204" pitchFamily="34" charset="0"/>
              </a:rPr>
              <a:t>Weekends (Saturday and Sunday) show a wider spending range, indicating some customers spend significantly more or less.</a:t>
            </a:r>
            <a:endParaRPr lang="en-US" altLang="en-US" sz="16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altLang="en-US" sz="1600" dirty="0">
                <a:latin typeface="Calibri" panose="020F0502020204030204" pitchFamily="34" charset="0"/>
                <a:ea typeface="Calibri" panose="020F0502020204030204" pitchFamily="34" charset="0"/>
                <a:cs typeface="Calibri" panose="020F0502020204030204" pitchFamily="34" charset="0"/>
              </a:rPr>
              <a:t>March records the highest number of transactions, followed by October and February, indicating peak activity during these months. </a:t>
            </a:r>
            <a:endParaRPr lang="en-US" altLang="en-US" sz="16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altLang="en-US" sz="1600" dirty="0">
                <a:latin typeface="Calibri" panose="020F0502020204030204" pitchFamily="34" charset="0"/>
                <a:ea typeface="Calibri" panose="020F0502020204030204" pitchFamily="34" charset="0"/>
                <a:cs typeface="Calibri" panose="020F0502020204030204" pitchFamily="34" charset="0"/>
              </a:rPr>
              <a:t>After March, there is a gradual decline, with April showing the lowest number of transactions. </a:t>
            </a:r>
            <a:endParaRPr lang="en-US" altLang="en-US" sz="16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altLang="en-US" sz="1600" dirty="0">
                <a:latin typeface="Calibri" panose="020F0502020204030204" pitchFamily="34" charset="0"/>
                <a:ea typeface="Calibri" panose="020F0502020204030204" pitchFamily="34" charset="0"/>
                <a:cs typeface="Calibri" panose="020F0502020204030204" pitchFamily="34" charset="0"/>
              </a:rPr>
              <a:t>Overall, the trend shows that sales may change from month to month due to seasonal demand or customer buying patterns.</a:t>
            </a:r>
            <a:endParaRPr lang="en-US" altLang="en-US" sz="1600" dirty="0">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1"/>
          <a:stretch>
            <a:fillRect/>
          </a:stretch>
        </p:blipFill>
        <p:spPr>
          <a:xfrm>
            <a:off x="210820" y="3134360"/>
            <a:ext cx="8733155" cy="37236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3557" y="302476"/>
            <a:ext cx="10555705" cy="646331"/>
          </a:xfrm>
          <a:prstGeom prst="rect">
            <a:avLst/>
          </a:prstGeom>
          <a:noFill/>
        </p:spPr>
        <p:txBody>
          <a:bodyPr wrap="square" rtlCol="0">
            <a:spAutoFit/>
          </a:bodyPr>
          <a:lstStyle/>
          <a:p>
            <a:r>
              <a:rPr lang="en-IN" sz="3600" b="1" dirty="0">
                <a:latin typeface="Calibri" panose="020F0502020204030204" pitchFamily="34" charset="0"/>
                <a:ea typeface="Calibri" panose="020F0502020204030204" pitchFamily="34" charset="0"/>
                <a:cs typeface="Calibri" panose="020F0502020204030204" pitchFamily="34" charset="0"/>
              </a:rPr>
              <a:t>Multivariate Analysis </a:t>
            </a:r>
            <a:endParaRPr lang="en-IN" sz="36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TextBox 2"/>
          <p:cNvSpPr txBox="1"/>
          <p:nvPr/>
        </p:nvSpPr>
        <p:spPr>
          <a:xfrm>
            <a:off x="593556" y="948807"/>
            <a:ext cx="10555705" cy="338554"/>
          </a:xfrm>
          <a:prstGeom prst="rect">
            <a:avLst/>
          </a:prstGeom>
          <a:noFill/>
        </p:spPr>
        <p:txBody>
          <a:bodyPr wrap="square" rtlCol="0">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Multivariate analysis explores relationships among three or more variables simultaneously.</a:t>
            </a:r>
            <a:endParaRPr lang="en-IN" sz="1600" b="1" dirty="0">
              <a:latin typeface="Calibri" panose="020F0502020204030204" pitchFamily="34" charset="0"/>
              <a:ea typeface="Calibri" panose="020F0502020204030204" pitchFamily="34" charset="0"/>
              <a:cs typeface="Calibri" panose="020F0502020204030204" pitchFamily="34" charset="0"/>
            </a:endParaRPr>
          </a:p>
        </p:txBody>
      </p:sp>
      <p:sp>
        <p:nvSpPr>
          <p:cNvPr id="4" name="TextBox 3"/>
          <p:cNvSpPr txBox="1"/>
          <p:nvPr/>
        </p:nvSpPr>
        <p:spPr>
          <a:xfrm>
            <a:off x="593725" y="1287145"/>
            <a:ext cx="10555605" cy="1641475"/>
          </a:xfrm>
          <a:prstGeom prst="rect">
            <a:avLst/>
          </a:prstGeom>
          <a:noFill/>
        </p:spPr>
        <p:txBody>
          <a:bodyPr wrap="square" rtlCol="0">
            <a:noAutofit/>
          </a:bodyPr>
          <a:lstStyle/>
          <a:p>
            <a:pPr marL="285750" indent="-285750">
              <a:lnSpc>
                <a:spcPct val="150000"/>
              </a:lnSpc>
              <a:buFont typeface="Arial" panose="020B0604020202020204" pitchFamily="34" charset="0"/>
              <a:buChar char="•"/>
            </a:pPr>
            <a:r>
              <a:rPr lang="en-US" altLang="en-US" sz="1600" dirty="0">
                <a:latin typeface="+mn-lt"/>
              </a:rPr>
              <a:t>Latte and Americano with Milk are the top-selling coffee types throughout all times of the day.</a:t>
            </a:r>
            <a:endParaRPr lang="en-US" altLang="en-US" sz="1600" dirty="0">
              <a:latin typeface="+mn-lt"/>
            </a:endParaRPr>
          </a:p>
          <a:p>
            <a:pPr marL="285750" indent="-285750">
              <a:lnSpc>
                <a:spcPct val="150000"/>
              </a:lnSpc>
              <a:buFont typeface="Arial" panose="020B0604020202020204" pitchFamily="34" charset="0"/>
              <a:buChar char="•"/>
            </a:pPr>
            <a:r>
              <a:rPr lang="en-US" altLang="en-US" sz="1600" dirty="0">
                <a:latin typeface="+mn-lt"/>
              </a:rPr>
              <a:t>Espresso and Cortado show the lowest sales, indicating a smaller customer base for strong, plain coffee.</a:t>
            </a:r>
            <a:endParaRPr lang="en-US" altLang="en-US" sz="1600" dirty="0">
              <a:latin typeface="+mn-lt"/>
            </a:endParaRPr>
          </a:p>
        </p:txBody>
      </p:sp>
      <p:pic>
        <p:nvPicPr>
          <p:cNvPr id="5" name="Picture 4"/>
          <p:cNvPicPr>
            <a:picLocks noChangeAspect="1"/>
          </p:cNvPicPr>
          <p:nvPr/>
        </p:nvPicPr>
        <p:blipFill>
          <a:blip r:embed="rId1"/>
          <a:stretch>
            <a:fillRect/>
          </a:stretch>
        </p:blipFill>
        <p:spPr>
          <a:xfrm>
            <a:off x="0" y="2307590"/>
            <a:ext cx="9055735" cy="438594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838200" y="365125"/>
            <a:ext cx="10515600" cy="966723"/>
          </a:xfrm>
        </p:spPr>
        <p:txBody>
          <a:bodyPr>
            <a:normAutofit/>
          </a:bodyPr>
          <a:lstStyle/>
          <a:p>
            <a:r>
              <a:rPr lang="en-US" sz="3600" b="1" dirty="0">
                <a:solidFill>
                  <a:schemeClr val="tx1"/>
                </a:solidFill>
                <a:latin typeface="Times New Roman" panose="02020603050405020304" pitchFamily="18" charset="0"/>
                <a:cs typeface="Times New Roman" panose="02020603050405020304" pitchFamily="18" charset="0"/>
              </a:rPr>
              <a:t>Insights</a:t>
            </a:r>
            <a:endParaRPr lang="en-US" sz="3600" b="1" dirty="0">
              <a:solidFill>
                <a:schemeClr val="tx1"/>
              </a:solidFill>
              <a:latin typeface="Times New Roman" panose="02020603050405020304" pitchFamily="18" charset="0"/>
              <a:cs typeface="Times New Roman" panose="02020603050405020304" pitchFamily="18" charset="0"/>
            </a:endParaRPr>
          </a:p>
        </p:txBody>
      </p:sp>
      <p:sp>
        <p:nvSpPr>
          <p:cNvPr id="2" name="Text Placeholder 1"/>
          <p:cNvSpPr>
            <a:spLocks noGrp="1" noChangeArrowheads="1"/>
          </p:cNvSpPr>
          <p:nvPr>
            <p:ph type="body" idx="1"/>
          </p:nvPr>
        </p:nvSpPr>
        <p:spPr bwMode="auto">
          <a:xfrm>
            <a:off x="838200" y="1203325"/>
            <a:ext cx="10515600" cy="3893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342900"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lang="en-US" altLang="en-US" sz="1800" dirty="0">
                <a:ln>
                  <a:noFill/>
                </a:ln>
                <a:solidFill>
                  <a:schemeClr val="tx1"/>
                </a:solidFill>
                <a:effectLst/>
                <a:latin typeface="Arial" panose="020B0604020202020204" pitchFamily="34" charset="0"/>
                <a:sym typeface="+mn-ea"/>
              </a:rPr>
              <a:t>Peak Hours: 9 AM–12 PM &amp; 3 PM–5 PM — busiest and most profitable times.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lang="en-US" altLang="en-US" sz="1800" dirty="0">
                <a:ln>
                  <a:noFill/>
                </a:ln>
                <a:solidFill>
                  <a:schemeClr val="tx1"/>
                </a:solidFill>
                <a:effectLst/>
                <a:latin typeface="Arial" panose="020B0604020202020204" pitchFamily="34" charset="0"/>
                <a:sym typeface="+mn-ea"/>
              </a:rPr>
              <a:t>Top Days: Monday, Thursday, and Friday show the highest sales; Sunday the lowest.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lang="en-US" altLang="en-US" sz="1800" dirty="0">
                <a:ln>
                  <a:noFill/>
                </a:ln>
                <a:solidFill>
                  <a:schemeClr val="tx1"/>
                </a:solidFill>
                <a:effectLst/>
                <a:latin typeface="Arial" panose="020B0604020202020204" pitchFamily="34" charset="0"/>
                <a:sym typeface="+mn-ea"/>
              </a:rPr>
              <a:t>Indicates strong weekday demand from working professionals.</a:t>
            </a:r>
            <a:endParaRPr lang="en-US" altLang="en-US" sz="1800" dirty="0">
              <a:ln>
                <a:noFill/>
              </a:ln>
              <a:solidFill>
                <a:schemeClr val="tx1"/>
              </a:solidFill>
              <a:effectLst/>
              <a:latin typeface="Arial" panose="020B0604020202020204" pitchFamily="34" charset="0"/>
              <a:sym typeface="+mn-ea"/>
            </a:endParaRPr>
          </a:p>
          <a:p>
            <a:pPr marL="342900"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Arial" panose="020B0604020202020204" pitchFamily="34" charset="0"/>
              </a:rPr>
              <a:t>Average spend: ₹30–₹35 across all weekdays.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Arial" panose="020B0604020202020204" pitchFamily="34" charset="0"/>
              </a:rPr>
              <a:t>Weekends show slightly higher variation in spending.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Arial" panose="020B0604020202020204" pitchFamily="34" charset="0"/>
              </a:rPr>
              <a:t>Latte, Cappuccino, and Americano with Milk attract higher spending.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Arial" panose="020B0604020202020204" pitchFamily="34" charset="0"/>
              </a:rPr>
              <a:t>Cortado and Espresso have lower spending due to smaller sizes or prices.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Arial" panose="020B0604020202020204" pitchFamily="34" charset="0"/>
              </a:rPr>
              <a:t>Outliers mainly during night hours, where customers spent unusually less.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Arial" panose="020B0604020202020204" pitchFamily="34" charset="0"/>
              </a:rPr>
              <a:t>Removing outliers ensures accurate, balanced, and trustworthy insights.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Arial" panose="020B0604020202020204" pitchFamily="34" charset="0"/>
              </a:rPr>
              <a:t>March records the highest transactions, followed by October and February.</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Arial" panose="020B0604020202020204" pitchFamily="34" charset="0"/>
              </a:rPr>
              <a:t>April has the lowest sales, indicating seasonal buying patterns.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7780" y="391160"/>
            <a:ext cx="8450580" cy="795655"/>
          </a:xfrm>
        </p:spPr>
        <p:txBody>
          <a:bodyPr>
            <a:normAutofit/>
          </a:bodyPr>
          <a:lstStyle/>
          <a:p>
            <a:r>
              <a:rPr lang="en-IN" sz="4000" b="1" dirty="0">
                <a:latin typeface="Times New Roman" panose="02020603050405020304" pitchFamily="18" charset="0"/>
                <a:cs typeface="Times New Roman" panose="02020603050405020304" pitchFamily="18" charset="0"/>
              </a:rPr>
              <a:t>Conclusion</a:t>
            </a:r>
            <a:endParaRPr lang="en-IN" sz="4000" b="1" dirty="0">
              <a:latin typeface="Times New Roman" panose="02020603050405020304" pitchFamily="18" charset="0"/>
              <a:cs typeface="Times New Roman" panose="02020603050405020304" pitchFamily="18" charset="0"/>
            </a:endParaRPr>
          </a:p>
        </p:txBody>
      </p:sp>
      <p:sp>
        <p:nvSpPr>
          <p:cNvPr id="5" name="Rectangle 2"/>
          <p:cNvSpPr>
            <a:spLocks noGrp="1" noChangeArrowheads="1"/>
          </p:cNvSpPr>
          <p:nvPr>
            <p:ph type="body" idx="1"/>
          </p:nvPr>
        </p:nvSpPr>
        <p:spPr bwMode="auto">
          <a:xfrm>
            <a:off x="1467485" y="1038225"/>
            <a:ext cx="9110345" cy="5681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pPr>
            <a:r>
              <a:rPr kumimoji="0" lang="en-US" altLang="en-US" sz="1800" b="0" i="0" u="none" strike="noStrike" cap="none" normalizeH="0" baseline="0" dirty="0">
                <a:ln>
                  <a:noFill/>
                </a:ln>
                <a:solidFill>
                  <a:schemeClr val="tx1"/>
                </a:solidFill>
                <a:effectLst/>
                <a:latin typeface="Arial" panose="020B0604020202020204" pitchFamily="34" charset="0"/>
              </a:rPr>
              <a:t>Morning and Afternoon are the most profitable times, showing that customers prefer coffee during work hours or breaks.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pPr>
            <a:r>
              <a:rPr kumimoji="0" lang="en-US" altLang="en-US" sz="1800" b="0" i="0" u="none" strike="noStrike" cap="none" normalizeH="0" baseline="0" dirty="0">
                <a:ln>
                  <a:noFill/>
                </a:ln>
                <a:solidFill>
                  <a:schemeClr val="tx1"/>
                </a:solidFill>
                <a:effectLst/>
                <a:latin typeface="Arial" panose="020B0604020202020204" pitchFamily="34" charset="0"/>
              </a:rPr>
              <a:t>Weekdays outperform weekends, highlighting office-going customers as the primary buyers.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pPr>
            <a:r>
              <a:rPr kumimoji="0" lang="en-US" altLang="en-US" sz="1800" b="0" i="0" u="none" strike="noStrike" cap="none" normalizeH="0" baseline="0" dirty="0">
                <a:ln>
                  <a:noFill/>
                </a:ln>
                <a:solidFill>
                  <a:schemeClr val="tx1"/>
                </a:solidFill>
                <a:effectLst/>
                <a:latin typeface="Arial" panose="020B0604020202020204" pitchFamily="34" charset="0"/>
              </a:rPr>
              <a:t>Latte and Americano with Milk are the top-selling beverages, reflecting a preference for premium and milk-based coffees.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pPr>
            <a:r>
              <a:rPr kumimoji="0" lang="en-US" altLang="en-US" sz="1800" b="0" i="0" u="none" strike="noStrike" cap="none" normalizeH="0" baseline="0" dirty="0">
                <a:ln>
                  <a:noFill/>
                </a:ln>
                <a:solidFill>
                  <a:schemeClr val="tx1"/>
                </a:solidFill>
                <a:effectLst/>
                <a:latin typeface="Arial" panose="020B0604020202020204" pitchFamily="34" charset="0"/>
              </a:rPr>
              <a:t>Consistent average spending (₹30–₹35) indicates stable pricing and loyal customer behavior.</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pPr>
            <a:r>
              <a:rPr kumimoji="0" lang="en-US" altLang="en-US" sz="1800" b="0" i="0" u="none" strike="noStrike" cap="none" normalizeH="0" baseline="0" dirty="0">
                <a:ln>
                  <a:noFill/>
                </a:ln>
                <a:solidFill>
                  <a:schemeClr val="tx1"/>
                </a:solidFill>
                <a:effectLst/>
                <a:latin typeface="Arial" panose="020B0604020202020204" pitchFamily="34" charset="0"/>
              </a:rPr>
              <a:t>Outlier removal improved data accuracy and helped uncover genuine spending trends.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pPr>
            <a:r>
              <a:rPr kumimoji="0" lang="en-US" altLang="en-US" sz="1800" b="0" i="0" u="none" strike="noStrike" cap="none" normalizeH="0" baseline="0" dirty="0">
                <a:ln>
                  <a:noFill/>
                </a:ln>
                <a:solidFill>
                  <a:schemeClr val="tx1"/>
                </a:solidFill>
                <a:effectLst/>
                <a:latin typeface="Arial" panose="020B0604020202020204" pitchFamily="34" charset="0"/>
              </a:rPr>
              <a:t>Weekend variations show more casual or mixed spending habits — possibly families or leisure buyers.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pPr>
            <a:r>
              <a:rPr kumimoji="0" lang="en-US" altLang="en-US" sz="1800" b="0" i="0" u="none" strike="noStrike" cap="none" normalizeH="0" baseline="0" dirty="0">
                <a:ln>
                  <a:noFill/>
                </a:ln>
                <a:solidFill>
                  <a:schemeClr val="tx1"/>
                </a:solidFill>
                <a:effectLst/>
                <a:latin typeface="Arial" panose="020B0604020202020204" pitchFamily="34" charset="0"/>
              </a:rPr>
              <a:t>Monthly trends suggest seasonal demand, with March showing a peak — likely due to festive or cooler-season consumption.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pPr>
            <a:r>
              <a:rPr kumimoji="0" lang="en-US" altLang="en-US" sz="1800" b="0" i="0" u="none" strike="noStrike" cap="none" normalizeH="0" baseline="0" dirty="0">
                <a:ln>
                  <a:noFill/>
                </a:ln>
                <a:solidFill>
                  <a:schemeClr val="tx1"/>
                </a:solidFill>
                <a:effectLst/>
                <a:latin typeface="Arial" panose="020B0604020202020204" pitchFamily="34" charset="0"/>
              </a:rPr>
              <a:t>Card payments dominate, showing customers’ preference for digital and cashless transactions.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pPr>
            <a:r>
              <a:rPr kumimoji="0" lang="en-US" altLang="en-US" sz="1800" b="0" i="0" u="none" strike="noStrike" cap="none" normalizeH="0" baseline="0" dirty="0">
                <a:ln>
                  <a:noFill/>
                </a:ln>
                <a:solidFill>
                  <a:schemeClr val="tx1"/>
                </a:solidFill>
                <a:effectLst/>
                <a:latin typeface="Arial" panose="020B0604020202020204" pitchFamily="34" charset="0"/>
              </a:rPr>
              <a:t>The analysis helps identify when and what to promote, supporting inventory planning and marketing strategies.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pPr>
            <a:r>
              <a:rPr kumimoji="0" lang="en-US" altLang="en-US" sz="1800" b="0" i="0" u="none" strike="noStrike" cap="none" normalizeH="0" baseline="0" dirty="0">
                <a:ln>
                  <a:noFill/>
                </a:ln>
                <a:solidFill>
                  <a:schemeClr val="tx1"/>
                </a:solidFill>
                <a:effectLst/>
                <a:latin typeface="Arial" panose="020B0604020202020204" pitchFamily="34" charset="0"/>
              </a:rPr>
              <a:t>Overall, the café achieves steady sales performance with potential to boost off-peak hours through targeted offers or promotions.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2949" y="0"/>
            <a:ext cx="10515600" cy="1325563"/>
          </a:xfrm>
        </p:spPr>
        <p:txBody>
          <a:bodyPr>
            <a:normAutofit/>
          </a:bodyPr>
          <a:lstStyle/>
          <a:p>
            <a:r>
              <a:rPr lang="en-US" sz="3600" b="1" dirty="0">
                <a:solidFill>
                  <a:schemeClr val="tx1"/>
                </a:solidFill>
                <a:latin typeface="Times New Roman" panose="02020603050405020304" pitchFamily="18" charset="0"/>
                <a:cs typeface="Times New Roman" panose="02020603050405020304" pitchFamily="18" charset="0"/>
              </a:rPr>
              <a:t>Future Scope:</a:t>
            </a:r>
            <a:endParaRPr lang="en-US" sz="3600" b="1" dirty="0">
              <a:solidFill>
                <a:schemeClr val="tx1"/>
              </a:solidFill>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type="body" idx="1"/>
          </p:nvPr>
        </p:nvSpPr>
        <p:spPr bwMode="auto">
          <a:xfrm>
            <a:off x="563245" y="961390"/>
            <a:ext cx="9978390" cy="5643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342900" marR="0" lvl="0" algn="just" defTabSz="914400" rtl="0" eaLnBrk="0" fontAlgn="base" latinLnBrk="0" hangingPunct="0">
              <a:lnSpc>
                <a:spcPct val="100000"/>
              </a:lnSpc>
              <a:spcBef>
                <a:spcPct val="0"/>
              </a:spcBef>
              <a:spcAft>
                <a:spcPct val="0"/>
              </a:spcAft>
              <a:buClrTx/>
              <a:buSzTx/>
              <a:buFont typeface="+mj-lt"/>
              <a:buAutoNum type="arabicPeriod"/>
            </a:pPr>
            <a:r>
              <a:rPr kumimoji="0" lang="en-US" altLang="en-US" sz="1600" b="0" i="0" u="none" strike="noStrike" cap="none" normalizeH="0" baseline="0" dirty="0">
                <a:ln>
                  <a:noFill/>
                </a:ln>
                <a:solidFill>
                  <a:schemeClr val="tx1"/>
                </a:solidFill>
                <a:effectLst/>
                <a:latin typeface="Arial" panose="020B0604020202020204" pitchFamily="34" charset="0"/>
              </a:rPr>
              <a:t>Suggest coffee types to customers based on past purchase behavior</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342900" marR="0" lvl="0" algn="just" defTabSz="914400" rtl="0" eaLnBrk="0" fontAlgn="base" latinLnBrk="0" hangingPunct="0">
              <a:lnSpc>
                <a:spcPct val="100000"/>
              </a:lnSpc>
              <a:spcBef>
                <a:spcPct val="0"/>
              </a:spcBef>
              <a:spcAft>
                <a:spcPct val="0"/>
              </a:spcAft>
              <a:buClrTx/>
              <a:buSzTx/>
              <a:buFont typeface="+mj-lt"/>
              <a:buAutoNum type="arabicPeriod"/>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342900" marR="0" lvl="0" algn="just" defTabSz="914400" rtl="0" eaLnBrk="0" fontAlgn="base" latinLnBrk="0" hangingPunct="0">
              <a:lnSpc>
                <a:spcPct val="100000"/>
              </a:lnSpc>
              <a:spcBef>
                <a:spcPct val="0"/>
              </a:spcBef>
              <a:spcAft>
                <a:spcPct val="0"/>
              </a:spcAft>
              <a:buClrTx/>
              <a:buSzTx/>
              <a:buFont typeface="+mj-lt"/>
              <a:buAutoNum type="arabicPeriod"/>
            </a:pPr>
            <a:r>
              <a:rPr kumimoji="0" lang="en-US" altLang="en-US" sz="1600" b="0" i="0" u="none" strike="noStrike" cap="none" normalizeH="0" baseline="0" dirty="0">
                <a:ln>
                  <a:noFill/>
                </a:ln>
                <a:solidFill>
                  <a:schemeClr val="tx1"/>
                </a:solidFill>
                <a:effectLst/>
                <a:latin typeface="Arial" panose="020B0604020202020204" pitchFamily="34" charset="0"/>
              </a:rPr>
              <a:t>Promote popular drinks like Latte and Americano with Milk through combo offers.</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342900" marR="0" lvl="0" algn="just" defTabSz="914400" rtl="0" eaLnBrk="0" fontAlgn="base" latinLnBrk="0" hangingPunct="0">
              <a:lnSpc>
                <a:spcPct val="100000"/>
              </a:lnSpc>
              <a:spcBef>
                <a:spcPct val="0"/>
              </a:spcBef>
              <a:spcAft>
                <a:spcPct val="0"/>
              </a:spcAft>
              <a:buClrTx/>
              <a:buSzTx/>
              <a:buFont typeface="+mj-lt"/>
              <a:buAutoNum type="arabicPeriod"/>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342900" marR="0" lvl="0" algn="just" defTabSz="914400" rtl="0" eaLnBrk="0" fontAlgn="base" latinLnBrk="0" hangingPunct="0">
              <a:lnSpc>
                <a:spcPct val="100000"/>
              </a:lnSpc>
              <a:spcBef>
                <a:spcPct val="0"/>
              </a:spcBef>
              <a:spcAft>
                <a:spcPct val="0"/>
              </a:spcAft>
              <a:buClrTx/>
              <a:buSzTx/>
              <a:buFont typeface="+mj-lt"/>
              <a:buAutoNum type="arabicPeriod"/>
            </a:pPr>
            <a:r>
              <a:rPr kumimoji="0" lang="en-US" altLang="en-US" sz="1600" b="0" i="0" u="none" strike="noStrike" cap="none" normalizeH="0" baseline="0" dirty="0">
                <a:ln>
                  <a:noFill/>
                </a:ln>
                <a:solidFill>
                  <a:schemeClr val="tx1"/>
                </a:solidFill>
                <a:effectLst/>
                <a:latin typeface="Arial" panose="020B0604020202020204" pitchFamily="34" charset="0"/>
              </a:rPr>
              <a:t>Analyze data to decide optimal pricing, discount timing, and inventory management.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342900" marR="0" lvl="0" algn="just" defTabSz="914400" rtl="0" eaLnBrk="0" fontAlgn="base" latinLnBrk="0" hangingPunct="0">
              <a:lnSpc>
                <a:spcPct val="100000"/>
              </a:lnSpc>
              <a:spcBef>
                <a:spcPct val="0"/>
              </a:spcBef>
              <a:spcAft>
                <a:spcPct val="0"/>
              </a:spcAft>
              <a:buClrTx/>
              <a:buSzTx/>
              <a:buFont typeface="+mj-lt"/>
              <a:buAutoNum type="arabicPeriod"/>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342900" marR="0" lvl="0" algn="just" defTabSz="914400" rtl="0" eaLnBrk="0" fontAlgn="base" latinLnBrk="0" hangingPunct="0">
              <a:lnSpc>
                <a:spcPct val="100000"/>
              </a:lnSpc>
              <a:spcBef>
                <a:spcPct val="0"/>
              </a:spcBef>
              <a:spcAft>
                <a:spcPct val="0"/>
              </a:spcAft>
              <a:buClrTx/>
              <a:buSzTx/>
              <a:buFont typeface="+mj-lt"/>
              <a:buAutoNum type="arabicPeriod"/>
            </a:pPr>
            <a:r>
              <a:rPr kumimoji="0" lang="en-US" altLang="en-US" sz="1600" b="0" i="0" u="none" strike="noStrike" cap="none" normalizeH="0" baseline="0" dirty="0">
                <a:ln>
                  <a:noFill/>
                </a:ln>
                <a:solidFill>
                  <a:schemeClr val="tx1"/>
                </a:solidFill>
                <a:effectLst/>
                <a:latin typeface="Arial" panose="020B0604020202020204" pitchFamily="34" charset="0"/>
              </a:rPr>
              <a:t>Combine reviews or ratings with sales data to understand satisfaction and preferences.</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342900" marR="0" lvl="0" algn="just" defTabSz="914400" rtl="0" eaLnBrk="0" fontAlgn="base" latinLnBrk="0" hangingPunct="0">
              <a:lnSpc>
                <a:spcPct val="100000"/>
              </a:lnSpc>
              <a:spcBef>
                <a:spcPct val="0"/>
              </a:spcBef>
              <a:spcAft>
                <a:spcPct val="0"/>
              </a:spcAft>
              <a:buClrTx/>
              <a:buSzTx/>
              <a:buFont typeface="+mj-lt"/>
              <a:buAutoNum type="arabicPeriod"/>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342900" marR="0" lvl="0" algn="just" defTabSz="914400" rtl="0" eaLnBrk="0" fontAlgn="base" latinLnBrk="0" hangingPunct="0">
              <a:lnSpc>
                <a:spcPct val="100000"/>
              </a:lnSpc>
              <a:spcBef>
                <a:spcPct val="0"/>
              </a:spcBef>
              <a:spcAft>
                <a:spcPct val="0"/>
              </a:spcAft>
              <a:buClrTx/>
              <a:buSzTx/>
              <a:buFont typeface="+mj-lt"/>
              <a:buAutoNum type="arabicPeriod"/>
            </a:pPr>
            <a:r>
              <a:rPr kumimoji="0" lang="en-US" altLang="en-US" sz="1600" b="0" i="0" u="none" strike="noStrike" cap="none" normalizeH="0" baseline="0" dirty="0">
                <a:ln>
                  <a:noFill/>
                </a:ln>
                <a:solidFill>
                  <a:schemeClr val="tx1"/>
                </a:solidFill>
                <a:effectLst/>
                <a:latin typeface="Arial" panose="020B0604020202020204" pitchFamily="34" charset="0"/>
              </a:rPr>
              <a:t>Develop a mobile ordering or delivery platform to reach more customers and increase convenience.</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342900" marR="0" lvl="0" algn="just" defTabSz="914400" rtl="0" eaLnBrk="0" fontAlgn="base" latinLnBrk="0" hangingPunct="0">
              <a:lnSpc>
                <a:spcPct val="100000"/>
              </a:lnSpc>
              <a:spcBef>
                <a:spcPct val="0"/>
              </a:spcBef>
              <a:spcAft>
                <a:spcPct val="0"/>
              </a:spcAft>
              <a:buClrTx/>
              <a:buSzTx/>
              <a:buFont typeface="+mj-lt"/>
              <a:buAutoNum type="arabicPeriod"/>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342900" marR="0" lvl="0" algn="just" defTabSz="914400" rtl="0" eaLnBrk="0" fontAlgn="base" latinLnBrk="0" hangingPunct="0">
              <a:lnSpc>
                <a:spcPct val="100000"/>
              </a:lnSpc>
              <a:spcBef>
                <a:spcPct val="0"/>
              </a:spcBef>
              <a:spcAft>
                <a:spcPct val="0"/>
              </a:spcAft>
              <a:buClrTx/>
              <a:buSzTx/>
              <a:buFont typeface="+mj-lt"/>
              <a:buAutoNum type="arabicPeriod"/>
            </a:pPr>
            <a:r>
              <a:rPr kumimoji="0" lang="en-US" altLang="en-US" sz="1600" b="0" i="0" u="none" strike="noStrike" cap="none" normalizeH="0" baseline="0" dirty="0">
                <a:ln>
                  <a:noFill/>
                </a:ln>
                <a:solidFill>
                  <a:schemeClr val="tx1"/>
                </a:solidFill>
                <a:effectLst/>
                <a:latin typeface="Arial" panose="020B0604020202020204" pitchFamily="34" charset="0"/>
              </a:rPr>
              <a:t>Use sales insights to stock high-demand products and reduce waste from slow-moving items.</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342900" marR="0" lvl="0" algn="just" defTabSz="914400" rtl="0" eaLnBrk="0" fontAlgn="base" latinLnBrk="0" hangingPunct="0">
              <a:lnSpc>
                <a:spcPct val="100000"/>
              </a:lnSpc>
              <a:spcBef>
                <a:spcPct val="0"/>
              </a:spcBef>
              <a:spcAft>
                <a:spcPct val="0"/>
              </a:spcAft>
              <a:buClrTx/>
              <a:buSzTx/>
              <a:buFont typeface="+mj-lt"/>
              <a:buAutoNum type="arabicPeriod"/>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342900" marR="0" lvl="0" algn="just" defTabSz="914400" rtl="0" eaLnBrk="0" fontAlgn="base" latinLnBrk="0" hangingPunct="0">
              <a:lnSpc>
                <a:spcPct val="100000"/>
              </a:lnSpc>
              <a:spcBef>
                <a:spcPct val="0"/>
              </a:spcBef>
              <a:spcAft>
                <a:spcPct val="0"/>
              </a:spcAft>
              <a:buClrTx/>
              <a:buSzTx/>
              <a:buFont typeface="+mj-lt"/>
              <a:buAutoNum type="arabicPeriod"/>
            </a:pPr>
            <a:r>
              <a:rPr kumimoji="0" lang="en-US" altLang="en-US" sz="1600" b="0" i="0" u="none" strike="noStrike" cap="none" normalizeH="0" baseline="0" dirty="0">
                <a:ln>
                  <a:noFill/>
                </a:ln>
                <a:solidFill>
                  <a:schemeClr val="tx1"/>
                </a:solidFill>
                <a:effectLst/>
                <a:latin typeface="Arial" panose="020B0604020202020204" pitchFamily="34" charset="0"/>
              </a:rPr>
              <a:t>Launch a loyalty app or card system to reward repeat buyers and increase purchase frequency.</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342900" marR="0" lvl="0" algn="just" defTabSz="914400" rtl="0" eaLnBrk="0" fontAlgn="base" latinLnBrk="0" hangingPunct="0">
              <a:lnSpc>
                <a:spcPct val="100000"/>
              </a:lnSpc>
              <a:spcBef>
                <a:spcPct val="0"/>
              </a:spcBef>
              <a:spcAft>
                <a:spcPct val="0"/>
              </a:spcAft>
              <a:buClrTx/>
              <a:buSzTx/>
              <a:buFont typeface="+mj-lt"/>
              <a:buAutoNum type="arabicPeriod"/>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342900" marR="0" lvl="0" algn="just" defTabSz="914400" rtl="0" eaLnBrk="0" fontAlgn="base" latinLnBrk="0" hangingPunct="0">
              <a:lnSpc>
                <a:spcPct val="100000"/>
              </a:lnSpc>
              <a:spcBef>
                <a:spcPct val="0"/>
              </a:spcBef>
              <a:spcAft>
                <a:spcPct val="0"/>
              </a:spcAft>
              <a:buClrTx/>
              <a:buSzTx/>
              <a:buFont typeface="+mj-lt"/>
              <a:buAutoNum type="arabicPeriod"/>
            </a:pPr>
            <a:r>
              <a:rPr kumimoji="0" lang="en-US" altLang="en-US" sz="1600" b="0" i="0" u="none" strike="noStrike" cap="none" normalizeH="0" baseline="0" dirty="0">
                <a:ln>
                  <a:noFill/>
                </a:ln>
                <a:solidFill>
                  <a:schemeClr val="tx1"/>
                </a:solidFill>
                <a:effectLst/>
                <a:latin typeface="Arial" panose="020B0604020202020204" pitchFamily="34" charset="0"/>
              </a:rPr>
              <a:t>Introduce new flavors, snacks, or seasonal beverages to attract different customer groups.</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342900" marR="0" lvl="0" algn="just" defTabSz="914400" rtl="0" eaLnBrk="0" fontAlgn="base" latinLnBrk="0" hangingPunct="0">
              <a:lnSpc>
                <a:spcPct val="100000"/>
              </a:lnSpc>
              <a:spcBef>
                <a:spcPct val="0"/>
              </a:spcBef>
              <a:spcAft>
                <a:spcPct val="0"/>
              </a:spcAft>
              <a:buClrTx/>
              <a:buSzTx/>
              <a:buFont typeface="+mj-lt"/>
              <a:buAutoNum type="arabicPeriod"/>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342900" marR="0" lvl="0" algn="just" defTabSz="914400" rtl="0" eaLnBrk="0" fontAlgn="base" latinLnBrk="0" hangingPunct="0">
              <a:lnSpc>
                <a:spcPct val="100000"/>
              </a:lnSpc>
              <a:spcBef>
                <a:spcPct val="0"/>
              </a:spcBef>
              <a:spcAft>
                <a:spcPct val="0"/>
              </a:spcAft>
              <a:buClrTx/>
              <a:buSzTx/>
              <a:buFont typeface="+mj-lt"/>
              <a:buAutoNum type="arabicPeriod"/>
            </a:pPr>
            <a:r>
              <a:rPr kumimoji="0" lang="en-US" altLang="en-US" sz="1600" b="0" i="0" u="none" strike="noStrike" cap="none" normalizeH="0" baseline="0" dirty="0">
                <a:ln>
                  <a:noFill/>
                </a:ln>
                <a:solidFill>
                  <a:schemeClr val="tx1"/>
                </a:solidFill>
                <a:effectLst/>
                <a:latin typeface="Arial" panose="020B0604020202020204" pitchFamily="34" charset="0"/>
              </a:rPr>
              <a:t>Adjust prices based on time of day or season (e.g., premium pricing in peak hours, discounts off-peak).</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342900" marR="0" lvl="0" algn="just" defTabSz="914400" rtl="0" eaLnBrk="0" fontAlgn="base" latinLnBrk="0" hangingPunct="0">
              <a:lnSpc>
                <a:spcPct val="100000"/>
              </a:lnSpc>
              <a:spcBef>
                <a:spcPct val="0"/>
              </a:spcBef>
              <a:spcAft>
                <a:spcPct val="0"/>
              </a:spcAft>
              <a:buClrTx/>
              <a:buSzTx/>
              <a:buFont typeface="+mj-lt"/>
              <a:buAutoNum type="arabicPeriod"/>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342900" marR="0" lvl="0" algn="just" defTabSz="914400" rtl="0" eaLnBrk="0" fontAlgn="base" latinLnBrk="0" hangingPunct="0">
              <a:lnSpc>
                <a:spcPct val="100000"/>
              </a:lnSpc>
              <a:spcBef>
                <a:spcPct val="0"/>
              </a:spcBef>
              <a:spcAft>
                <a:spcPct val="0"/>
              </a:spcAft>
              <a:buClrTx/>
              <a:buSzTx/>
              <a:buFont typeface="+mj-lt"/>
              <a:buAutoNum type="arabicPeriod"/>
            </a:pPr>
            <a:r>
              <a:rPr kumimoji="0" lang="en-US" altLang="en-US" sz="1600" b="0" i="0" u="none" strike="noStrike" cap="none" normalizeH="0" baseline="0" dirty="0">
                <a:ln>
                  <a:noFill/>
                </a:ln>
                <a:solidFill>
                  <a:schemeClr val="tx1"/>
                </a:solidFill>
                <a:effectLst/>
                <a:latin typeface="Arial" panose="020B0604020202020204" pitchFamily="34" charset="0"/>
              </a:rPr>
              <a:t>The future scope of this coffee sales analysis is to develop interactive dashboards, apply predictive analytics</a:t>
            </a:r>
            <a:r>
              <a:rPr kumimoji="0" lang="en-IN" altLang="en-US" sz="1600" b="0" i="0" u="none" strike="noStrike" cap="none" normalizeH="0" baseline="0" dirty="0">
                <a:ln>
                  <a:noFill/>
                </a:ln>
                <a:solidFill>
                  <a:schemeClr val="tx1"/>
                </a:solidFill>
                <a:effectLst/>
                <a:latin typeface="Arial" panose="020B0604020202020204" pitchFamily="34" charset="0"/>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342900" marR="0" lvl="0" algn="l" defTabSz="914400" rtl="0" eaLnBrk="0" fontAlgn="base" latinLnBrk="0" hangingPunct="0">
              <a:lnSpc>
                <a:spcPct val="100000"/>
              </a:lnSpc>
              <a:spcBef>
                <a:spcPct val="0"/>
              </a:spcBef>
              <a:spcAft>
                <a:spcPct val="0"/>
              </a:spcAft>
              <a:buClrTx/>
              <a:buSzTx/>
              <a:buFont typeface="+mj-lt"/>
              <a:buAutoNum type="arabicPeriod"/>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342900" marR="0" lvl="0" algn="l" defTabSz="914400" rtl="0" eaLnBrk="0" fontAlgn="base" latinLnBrk="0" hangingPunct="0">
              <a:lnSpc>
                <a:spcPct val="100000"/>
              </a:lnSpc>
              <a:spcBef>
                <a:spcPct val="0"/>
              </a:spcBef>
              <a:spcAft>
                <a:spcPct val="0"/>
              </a:spcAft>
              <a:buClrTx/>
              <a:buSzTx/>
              <a:buFont typeface="+mj-lt"/>
              <a:buAutoNum type="arabicPeriod"/>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1"/>
          <a:srcRect/>
          <a:stretch>
            <a:fillRect/>
          </a:stretch>
        </p:blipFill>
        <p:spPr>
          <a:xfrm>
            <a:off x="6466516" y="1811421"/>
            <a:ext cx="4465643" cy="2834317"/>
          </a:xfrm>
          <a:prstGeom prst="rect">
            <a:avLst/>
          </a:prstGeom>
          <a:noFill/>
          <a:ln>
            <a:noFill/>
          </a:ln>
        </p:spPr>
      </p:pic>
      <p:sp>
        <p:nvSpPr>
          <p:cNvPr id="117" name="Google Shape;117;p5"/>
          <p:cNvSpPr txBox="1"/>
          <p:nvPr/>
        </p:nvSpPr>
        <p:spPr>
          <a:xfrm>
            <a:off x="1244600" y="2987368"/>
            <a:ext cx="4465642" cy="118160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00000"/>
              </a:buClr>
              <a:buSzPts val="4400"/>
              <a:buFont typeface="Libre Baskerville" panose="02000000000000000000"/>
              <a:buNone/>
            </a:pPr>
            <a:r>
              <a:rPr lang="en-IN" sz="4000" b="0" i="0" u="none" strike="noStrike" cap="none" dirty="0">
                <a:solidFill>
                  <a:schemeClr val="tx1"/>
                </a:solidFill>
                <a:latin typeface="Times New Roman" panose="02020603050405020304" pitchFamily="18" charset="0"/>
                <a:ea typeface="Libre Baskerville" panose="02000000000000000000"/>
                <a:cs typeface="Times New Roman" panose="02020603050405020304" pitchFamily="18" charset="0"/>
                <a:sym typeface="Libre Baskerville" panose="02000000000000000000"/>
              </a:rPr>
              <a:t>THANK YOU</a:t>
            </a:r>
            <a:endParaRPr sz="4000" b="0" i="0" u="none" strike="noStrike" cap="none" dirty="0">
              <a:solidFill>
                <a:schemeClr val="tx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7797</Words>
  <Application>WPS Presentation</Application>
  <PresentationFormat>Widescreen</PresentationFormat>
  <Paragraphs>234</Paragraphs>
  <Slides>14</Slides>
  <Notes>5</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14</vt:i4>
      </vt:variant>
    </vt:vector>
  </HeadingPairs>
  <TitlesOfParts>
    <vt:vector size="25" baseType="lpstr">
      <vt:lpstr>Arial</vt:lpstr>
      <vt:lpstr>SimSun</vt:lpstr>
      <vt:lpstr>Wingdings</vt:lpstr>
      <vt:lpstr>Arial</vt:lpstr>
      <vt:lpstr>Calibri</vt:lpstr>
      <vt:lpstr>Times New Roman</vt:lpstr>
      <vt:lpstr>Calibri</vt:lpstr>
      <vt:lpstr>Libre Baskerville</vt:lpstr>
      <vt:lpstr>Microsoft YaHei</vt:lpstr>
      <vt:lpstr>Arial Unicode MS</vt:lpstr>
      <vt:lpstr>Office Theme</vt:lpstr>
      <vt:lpstr>Presented by Manasa Thakkiti</vt:lpstr>
      <vt:lpstr>PowerPoint 演示文稿</vt:lpstr>
      <vt:lpstr>Coffee sales Dataset Analysis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Insights</vt:lpstr>
      <vt:lpstr>Conclusion</vt:lpstr>
      <vt:lpstr>Future Scope: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Abbu Manasa 502</cp:lastModifiedBy>
  <cp:revision>43</cp:revision>
  <dcterms:created xsi:type="dcterms:W3CDTF">2021-02-16T05:19:00Z</dcterms:created>
  <dcterms:modified xsi:type="dcterms:W3CDTF">2025-12-01T12:27:23Z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17EE2AFE717548D7BE4C5191C94BDAB7_13</vt:lpwstr>
  </property>
  <property fmtid="{D5CDD505-2E9C-101B-9397-08002B2CF9AE}" pid="3" name="KSOProductBuildVer">
    <vt:lpwstr>1033-12.2.0.23155</vt:lpwstr>
  </property>
</Properties>
</file>